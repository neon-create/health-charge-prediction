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notesMasterIdLst>
    <p:notesMasterId r:id="rId22"/>
  </p:notesMasterIdLst>
  <p:sldIdLst>
    <p:sldId id="256" r:id="rId4"/>
    <p:sldId id="258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63" r:id="rId20"/>
    <p:sldId id="265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12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charges</c:v>
                </c:pt>
              </c:strCache>
            </c:strRef>
          </c:tx>
          <c:spPr>
            <a:solidFill>
              <a:srgbClr val="7E4FCF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00BFFF"/>
              </a:solidFill>
            </c:spPr>
            <c:extLst>
              <c:ext xmlns:c16="http://schemas.microsoft.com/office/drawing/2014/chart" uri="{C3380CC4-5D6E-409C-BE32-E72D297353CC}">
                <c16:uniqueId val="{00000001-D68C-4252-A476-8DD5B7B34F67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D68C-4252-A476-8DD5B7B34F67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Non-smokers</c:v>
                </c:pt>
                <c:pt idx="1">
                  <c:v>Smokers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8441</c:v>
                </c:pt>
                <c:pt idx="1">
                  <c:v>32050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68C-4252-A476-8DD5B7B34F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3E6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8460"/>
          <c:min val="0"/>
        </c:scaling>
        <c:delete val="0"/>
        <c:axPos val="l"/>
        <c:majorGridlines>
          <c:spPr>
            <a:ln w="6350">
              <a:solidFill>
                <a:srgbClr val="554D8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C9C3E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FFFFFF"/>
          </a:solidFill>
          <a:latin typeface="Acto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charges</c:v>
                </c:pt>
              </c:strCache>
            </c:strRef>
          </c:tx>
          <c:spPr>
            <a:solidFill>
              <a:srgbClr val="7E4FCF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DD78-4EA4-A1E1-04BF3FA944F7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DD78-4EA4-A1E1-04BF3FA944F7}"/>
              </c:ext>
            </c:extLst>
          </c:dPt>
          <c:dPt>
            <c:idx val="2"/>
            <c:invertIfNegative val="1"/>
            <c:bubble3D val="0"/>
            <c:spPr>
              <a:solidFill>
                <a:srgbClr val="00BFFF"/>
              </a:solidFill>
            </c:spPr>
            <c:extLst>
              <c:ext xmlns:c16="http://schemas.microsoft.com/office/drawing/2014/chart" uri="{C3380CC4-5D6E-409C-BE32-E72D297353CC}">
                <c16:uniqueId val="{00000005-DD78-4EA4-A1E1-04BF3FA944F7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DD78-4EA4-A1E1-04BF3FA944F7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</c:v>
                </c:pt>
                <c:pt idx="1">
                  <c:v>NW</c:v>
                </c:pt>
                <c:pt idx="2">
                  <c:v>SE</c:v>
                </c:pt>
                <c:pt idx="3">
                  <c:v>SW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13406</c:v>
                </c:pt>
                <c:pt idx="1">
                  <c:v>12451</c:v>
                </c:pt>
                <c:pt idx="2">
                  <c:v>14735</c:v>
                </c:pt>
                <c:pt idx="3">
                  <c:v>12347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DD78-4EA4-A1E1-04BF3FA944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3E6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7682"/>
          <c:min val="0"/>
        </c:scaling>
        <c:delete val="0"/>
        <c:axPos val="l"/>
        <c:majorGridlines>
          <c:spPr>
            <a:ln w="6350">
              <a:solidFill>
                <a:srgbClr val="554D8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C9C3E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FFFFFF"/>
          </a:solidFill>
          <a:latin typeface="Acto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charges</c:v>
                </c:pt>
              </c:strCache>
            </c:strRef>
          </c:tx>
          <c:spPr>
            <a:solidFill>
              <a:srgbClr val="7E4FCF"/>
            </a:solidFill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Region: SE</c:v>
                </c:pt>
                <c:pt idx="1">
                  <c:v>Region: SW</c:v>
                </c:pt>
                <c:pt idx="2">
                  <c:v>Region: NW</c:v>
                </c:pt>
                <c:pt idx="3">
                  <c:v>Sex: male</c:v>
                </c:pt>
                <c:pt idx="4">
                  <c:v>Age (per year)</c:v>
                </c:pt>
                <c:pt idx="5">
                  <c:v>BMI (per unit)</c:v>
                </c:pt>
                <c:pt idx="6">
                  <c:v>Children (per child)</c:v>
                </c:pt>
                <c:pt idx="7">
                  <c:v>Smoker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-839</c:v>
                </c:pt>
                <c:pt idx="1">
                  <c:v>-659</c:v>
                </c:pt>
                <c:pt idx="2">
                  <c:v>-392</c:v>
                </c:pt>
                <c:pt idx="3">
                  <c:v>-102</c:v>
                </c:pt>
                <c:pt idx="4">
                  <c:v>248</c:v>
                </c:pt>
                <c:pt idx="5">
                  <c:v>319</c:v>
                </c:pt>
                <c:pt idx="6">
                  <c:v>533</c:v>
                </c:pt>
                <c:pt idx="7">
                  <c:v>23078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25-4A2D-B089-CBC1AE8A7C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C9C3E6"/>
            </a:solidFill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9000"/>
          <c:min val="-6000"/>
        </c:scaling>
        <c:delete val="1"/>
        <c:axPos val="b"/>
        <c:numFmt formatCode="#,##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FFFFFF"/>
          </a:solidFill>
          <a:latin typeface="Acto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75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Group 6 and the project: a Linear Regression model to predict insurance charges for UrbanNest Health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accurate prediction matters: fairer premiums, better customer trust, and healthier margins for the insurer.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1,338 raw rows, 1 duplicate (row index 581) removed, no missing values. Cleaned file exported for SQL Server as insurance_cleaned.csv.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workflow. Python for cleaning, EDA and modelling; SQL Server for the business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Mean is above median because a few very expensive patients pull the average up. Peaks near $20K and $40K hint at sub-populations, which the smoker analysis explains.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customer base is balanced by sex and region. Smokers are only 20% of customers, yet we will see they drive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Smoker mean $32,050 vs non-smoker $8,441. Correlation with charges is 0.79, the strongest of any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widening gap after BMI 30 is an interaction effect. A plain linear model cannot fully capture it, which we revisit in the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 has a clear positive slope with three visible bands. Region and sex effects are small compared with smoking.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Predictors are only weakly correlated with each other (e.g. age vs BMI 0.11), so each contributes independent signal. Low multicollinearity suits linear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Queries were run in SQL Server (InsuranceDB). Techniques shown: GROUP BY, CASE, window function (pct of top group), WHERE, HAVING, TOP. Also: 385 patients aged 50+ average $17,903.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Train-test split is essential for an honest estimate of how the model performs on new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R² of 0.81 is good but not perfect. MAE is the easiest metric to explain to business: roughly $4K error per patient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Regions are measured against Northeast, sex against female. Intercept is -$11,093 (only a mathematical baseline).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Mean residual is about $425 with a standard deviation of about $5,941.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about limits: these point directly to next steps (interaction terms, non-linear models, richer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Recommendations flow directly from the model coefficients and the SQL findings on obese smokers.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29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5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29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38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39" name="Google Shape;38;p4"/>
              <p:cNvPicPr/>
              <p:nvPr/>
            </p:nvPicPr>
            <p:blipFill>
              <a:blip r:embed="rId2"/>
              <a:srcRect t="28154" r="83008" b="11928"/>
              <a:stretch/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0" name="Google Shape;39;p4"/>
              <p:cNvPicPr/>
              <p:nvPr/>
            </p:nvPicPr>
            <p:blipFill>
              <a:blip r:embed="rId3"/>
              <a:srcRect l="13257" t="4640" r="52035" b="54899"/>
              <a:stretch/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41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42" name="Google Shape;41;p4"/>
              <p:cNvPicPr/>
              <p:nvPr/>
            </p:nvPicPr>
            <p:blipFill>
              <a:blip r:embed="rId3"/>
              <a:srcRect l="31146" t="56446" r="25575" b="4983"/>
              <a:stretch/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3" name="Google Shape;42;p4"/>
              <p:cNvPicPr/>
              <p:nvPr/>
            </p:nvPicPr>
            <p:blipFill>
              <a:blip r:embed="rId2"/>
              <a:srcRect l="4614" t="2365" r="79209" b="23718"/>
              <a:stretch/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46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47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3" name="Google Shape;10;p2"/>
            <p:cNvPicPr/>
            <p:nvPr/>
          </p:nvPicPr>
          <p:blipFill>
            <a:blip r:embed="rId3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1;p2"/>
            <p:cNvPicPr/>
            <p:nvPr/>
          </p:nvPicPr>
          <p:blipFill>
            <a:blip r:embed="rId4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6" name="Google Shape;13;p2"/>
            <p:cNvPicPr/>
            <p:nvPr/>
          </p:nvPicPr>
          <p:blipFill>
            <a:blip r:embed="rId4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" name="Google Shape;14;p2"/>
            <p:cNvPicPr/>
            <p:nvPr/>
          </p:nvPicPr>
          <p:blipFill>
            <a:blip r:embed="rId3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10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6" name="Google Shape;195;p17"/>
            <p:cNvPicPr/>
            <p:nvPr/>
          </p:nvPicPr>
          <p:blipFill>
            <a:blip r:embed="rId3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" name="Google Shape;196;p17"/>
            <p:cNvPicPr/>
            <p:nvPr/>
          </p:nvPicPr>
          <p:blipFill>
            <a:blip r:embed="rId4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9" name="Google Shape;198;p17"/>
            <p:cNvPicPr/>
            <p:nvPr/>
          </p:nvPicPr>
          <p:blipFill>
            <a:blip r:embed="rId4"/>
            <a:srcRect l="36932" t="-9160" r="19789" b="65672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" name="Google Shape;199;p17"/>
            <p:cNvPicPr/>
            <p:nvPr/>
          </p:nvPicPr>
          <p:blipFill>
            <a:blip r:embed="rId3"/>
            <a:srcRect l="-4381" t="29604" r="80498" b="5729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437;p35"/>
          <p:cNvSpPr/>
          <p:nvPr/>
        </p:nvSpPr>
        <p:spPr>
          <a:xfrm>
            <a:off x="3799440" y="391896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2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53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54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55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56" name="Rectangle 55"/>
          <p:cNvSpPr/>
          <p:nvPr/>
        </p:nvSpPr>
        <p:spPr>
          <a:xfrm>
            <a:off x="828720" y="1019160"/>
            <a:ext cx="7486200" cy="132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 dirty="0" err="1">
                <a:solidFill>
                  <a:srgbClr val="FFFFFF"/>
                </a:solidFill>
                <a:effectLst/>
                <a:uFillTx/>
                <a:latin typeface="Unbounded SemiBold"/>
              </a:rPr>
              <a:t>UrbanNest</a:t>
            </a:r>
            <a:r>
              <a:rPr lang="en-US" sz="5200" b="1" u="none" strike="noStrike" dirty="0">
                <a:solidFill>
                  <a:srgbClr val="FFFFFF"/>
                </a:solidFill>
                <a:effectLst/>
                <a:uFillTx/>
                <a:latin typeface="Unbounded SemiBold"/>
              </a:rPr>
              <a:t> Health Analytics</a:t>
            </a:r>
            <a:endParaRPr lang="en-US" sz="5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944297" y="2520696"/>
            <a:ext cx="5255046" cy="1381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HEALTH SECTOR CAPSTONE PROJECT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Predicting Insurance Charges with Linear Regression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800" b="1" i="1" dirty="0">
                <a:solidFill>
                  <a:srgbClr val="FFFFFF"/>
                </a:solidFill>
                <a:latin typeface="Actor"/>
              </a:rPr>
              <a:t>Group 6</a:t>
            </a:r>
            <a:endParaRPr lang="en-US" sz="2800" b="1" i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D80081-AE10-9B29-E237-884BBF3D2CBB}"/>
              </a:ext>
            </a:extLst>
          </p:cNvPr>
          <p:cNvSpPr/>
          <p:nvPr/>
        </p:nvSpPr>
        <p:spPr>
          <a:xfrm>
            <a:off x="99625" y="312079"/>
            <a:ext cx="2111746" cy="7752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TECH CRUSH</a:t>
            </a:r>
            <a:endParaRPr lang="en-US" sz="2000" b="1" i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19;p4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0300" y="410907"/>
            <a:ext cx="3102700" cy="4448013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</p:pic>
      <p:grpSp>
        <p:nvGrpSpPr>
          <p:cNvPr id="61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62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63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64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65" name="Rectangle 64"/>
          <p:cNvSpPr/>
          <p:nvPr/>
        </p:nvSpPr>
        <p:spPr>
          <a:xfrm>
            <a:off x="621000" y="556020"/>
            <a:ext cx="416196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 dirty="0">
                <a:solidFill>
                  <a:srgbClr val="FFFFFF"/>
                </a:solidFill>
                <a:effectLst/>
                <a:uFillTx/>
                <a:latin typeface="Unbounded"/>
              </a:rPr>
              <a:t>Problem To Solve:</a:t>
            </a:r>
            <a:endParaRPr lang="en-US" sz="29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21000" y="1399708"/>
            <a:ext cx="4161960" cy="33755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UrbanNest</a:t>
            </a:r>
            <a:r>
              <a:rPr lang="en-US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prices insurance using rough assumptions, not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Result: </a:t>
            </a:r>
            <a:r>
              <a:rPr lang="en-US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some patients overpay while others underpay.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This damages customer trust and company profitability.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i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Our task: </a:t>
            </a:r>
            <a:r>
              <a:rPr lang="en-US" sz="1400" b="0" i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build a Linear Regression model that predicts charges from patient attributes, so pricing is accurate, explainable and fair.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387382"/>
            <a:ext cx="4187952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Unbounded"/>
              </a:rPr>
              <a:t>The Data We Worked With</a:t>
            </a:r>
          </a:p>
        </p:txBody>
      </p:sp>
      <p:sp>
        <p:nvSpPr>
          <p:cNvPr id="5" name="Dataset description"/>
          <p:cNvSpPr txBox="1"/>
          <p:nvPr/>
        </p:nvSpPr>
        <p:spPr>
          <a:xfrm>
            <a:off x="520216" y="1097280"/>
            <a:ext cx="3868905" cy="359483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 dirty="0">
                <a:solidFill>
                  <a:srgbClr val="FFFFFF"/>
                </a:solidFill>
                <a:latin typeface="Actor"/>
              </a:rPr>
              <a:t>Medical Cost Personal Dataset</a:t>
            </a:r>
          </a:p>
          <a:p>
            <a:pPr algn="l">
              <a:spcAft>
                <a:spcPts val="900"/>
              </a:spcAft>
            </a:pPr>
            <a:r>
              <a:rPr sz="2000" b="0" i="0" dirty="0">
                <a:solidFill>
                  <a:srgbClr val="FFFFFF"/>
                </a:solidFill>
                <a:latin typeface="Actor"/>
              </a:rPr>
              <a:t>Each row is one policy</a:t>
            </a:r>
            <a:r>
              <a:rPr lang="en-US" sz="2000" b="0" i="0" dirty="0">
                <a:solidFill>
                  <a:srgbClr val="FFFFFF"/>
                </a:solidFill>
                <a:latin typeface="Actor"/>
              </a:rPr>
              <a:t> </a:t>
            </a:r>
            <a:r>
              <a:rPr sz="2000" b="0" i="0" dirty="0">
                <a:solidFill>
                  <a:srgbClr val="FFFFFF"/>
                </a:solidFill>
                <a:latin typeface="Actor"/>
              </a:rPr>
              <a:t>holder, with the insurance charge they were billed.</a:t>
            </a:r>
          </a:p>
          <a:p>
            <a:pPr algn="l">
              <a:spcAft>
                <a:spcPts val="900"/>
              </a:spcAft>
            </a:pPr>
            <a:r>
              <a:rPr sz="2000" b="1" i="0" dirty="0">
                <a:solidFill>
                  <a:srgbClr val="FFFFFF"/>
                </a:solidFill>
                <a:latin typeface="Actor"/>
              </a:rPr>
              <a:t>Predictors: </a:t>
            </a:r>
            <a:r>
              <a:rPr sz="2000" b="0" i="0" dirty="0">
                <a:solidFill>
                  <a:srgbClr val="FFFFFF"/>
                </a:solidFill>
                <a:latin typeface="Actor"/>
              </a:rPr>
              <a:t>age, sex, BMI, children, smoker, region</a:t>
            </a:r>
          </a:p>
          <a:p>
            <a:pPr algn="l">
              <a:spcAft>
                <a:spcPts val="900"/>
              </a:spcAft>
            </a:pPr>
            <a:r>
              <a:rPr sz="2000" b="1" i="0" dirty="0">
                <a:solidFill>
                  <a:srgbClr val="FFFFFF"/>
                </a:solidFill>
                <a:latin typeface="Actor"/>
              </a:rPr>
              <a:t>Target: </a:t>
            </a:r>
            <a:r>
              <a:rPr sz="2000" b="0" i="0" dirty="0">
                <a:solidFill>
                  <a:srgbClr val="FFFFFF"/>
                </a:solidFill>
                <a:latin typeface="Actor"/>
              </a:rPr>
              <a:t>charges ($)</a:t>
            </a:r>
          </a:p>
          <a:p>
            <a:pPr algn="l">
              <a:spcAft>
                <a:spcPts val="900"/>
              </a:spcAft>
            </a:pPr>
            <a:r>
              <a:rPr sz="2000" b="1" i="0" dirty="0">
                <a:solidFill>
                  <a:srgbClr val="FFFFFF"/>
                </a:solidFill>
                <a:latin typeface="Actor"/>
              </a:rPr>
              <a:t>Engineered for EDA &amp; SQL: </a:t>
            </a:r>
            <a:r>
              <a:rPr sz="2000" b="0" i="0" dirty="0">
                <a:solidFill>
                  <a:srgbClr val="FFFFFF"/>
                </a:solidFill>
                <a:latin typeface="Actor"/>
              </a:rPr>
              <a:t>BMI category (WHO bands) and age group</a:t>
            </a:r>
          </a:p>
        </p:txBody>
      </p:sp>
      <p:sp>
        <p:nvSpPr>
          <p:cNvPr id="6" name="Stat card"/>
          <p:cNvSpPr/>
          <p:nvPr/>
        </p:nvSpPr>
        <p:spPr>
          <a:xfrm>
            <a:off x="4754880" y="457200"/>
            <a:ext cx="3657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at value"/>
          <p:cNvSpPr txBox="1"/>
          <p:nvPr/>
        </p:nvSpPr>
        <p:spPr>
          <a:xfrm>
            <a:off x="4846320" y="530352"/>
            <a:ext cx="3474720" cy="7040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Unbounded"/>
              </a:rPr>
              <a:t>1,338</a:t>
            </a:r>
          </a:p>
        </p:txBody>
      </p:sp>
      <p:sp>
        <p:nvSpPr>
          <p:cNvPr id="8" name="Stat label"/>
          <p:cNvSpPr txBox="1"/>
          <p:nvPr/>
        </p:nvSpPr>
        <p:spPr>
          <a:xfrm>
            <a:off x="4846320" y="1161288"/>
            <a:ext cx="3474720" cy="53766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Raw patient records, 7 columns</a:t>
            </a:r>
          </a:p>
        </p:txBody>
      </p:sp>
      <p:sp>
        <p:nvSpPr>
          <p:cNvPr id="9" name="Stat card"/>
          <p:cNvSpPr/>
          <p:nvPr/>
        </p:nvSpPr>
        <p:spPr>
          <a:xfrm>
            <a:off x="4754880" y="1874519"/>
            <a:ext cx="3657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at value"/>
          <p:cNvSpPr txBox="1"/>
          <p:nvPr/>
        </p:nvSpPr>
        <p:spPr>
          <a:xfrm>
            <a:off x="4846320" y="1947672"/>
            <a:ext cx="3474720" cy="7040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Unbounded"/>
              </a:rPr>
              <a:t>1,337</a:t>
            </a:r>
          </a:p>
        </p:txBody>
      </p:sp>
      <p:sp>
        <p:nvSpPr>
          <p:cNvPr id="11" name="Stat label"/>
          <p:cNvSpPr txBox="1"/>
          <p:nvPr/>
        </p:nvSpPr>
        <p:spPr>
          <a:xfrm>
            <a:off x="4846320" y="2578608"/>
            <a:ext cx="3474720" cy="53766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Records after removing 1 duplicate row</a:t>
            </a:r>
          </a:p>
        </p:txBody>
      </p:sp>
      <p:sp>
        <p:nvSpPr>
          <p:cNvPr id="12" name="Stat card"/>
          <p:cNvSpPr/>
          <p:nvPr/>
        </p:nvSpPr>
        <p:spPr>
          <a:xfrm>
            <a:off x="4754880" y="3291840"/>
            <a:ext cx="3657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at value"/>
          <p:cNvSpPr txBox="1"/>
          <p:nvPr/>
        </p:nvSpPr>
        <p:spPr>
          <a:xfrm>
            <a:off x="4846320" y="3364992"/>
            <a:ext cx="3474720" cy="7040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Unbounded"/>
              </a:rPr>
              <a:t>0</a:t>
            </a:r>
          </a:p>
        </p:txBody>
      </p:sp>
      <p:sp>
        <p:nvSpPr>
          <p:cNvPr id="14" name="Stat label"/>
          <p:cNvSpPr txBox="1"/>
          <p:nvPr/>
        </p:nvSpPr>
        <p:spPr>
          <a:xfrm>
            <a:off x="4846320" y="3995928"/>
            <a:ext cx="3474720" cy="53766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Missing values in any column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16510"/>
            <a:ext cx="7863840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Unbounded"/>
              </a:rPr>
              <a:t>Our Workflow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75488" y="801147"/>
            <a:ext cx="78638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0" dirty="0">
                <a:solidFill>
                  <a:srgbClr val="C9C3E6"/>
                </a:solidFill>
                <a:latin typeface="Actor"/>
              </a:rPr>
              <a:t>Five steps from raw data to business insight</a:t>
            </a:r>
          </a:p>
        </p:txBody>
      </p:sp>
      <p:sp>
        <p:nvSpPr>
          <p:cNvPr id="6" name="Step card 1"/>
          <p:cNvSpPr/>
          <p:nvPr/>
        </p:nvSpPr>
        <p:spPr>
          <a:xfrm>
            <a:off x="475488" y="1417320"/>
            <a:ext cx="1481328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ep number"/>
          <p:cNvSpPr/>
          <p:nvPr/>
        </p:nvSpPr>
        <p:spPr>
          <a:xfrm>
            <a:off x="585216" y="1554480"/>
            <a:ext cx="457200" cy="457200"/>
          </a:xfrm>
          <a:prstGeom prst="ellipse">
            <a:avLst/>
          </a:prstGeom>
          <a:solidFill>
            <a:srgbClr val="7E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Unbounded"/>
              </a:rPr>
              <a:t>1</a:t>
            </a:r>
          </a:p>
        </p:txBody>
      </p:sp>
      <p:sp>
        <p:nvSpPr>
          <p:cNvPr id="8" name="Step title"/>
          <p:cNvSpPr txBox="1"/>
          <p:nvPr/>
        </p:nvSpPr>
        <p:spPr>
          <a:xfrm>
            <a:off x="548640" y="2121408"/>
            <a:ext cx="133502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ctor"/>
              </a:rPr>
              <a:t>Inspect</a:t>
            </a:r>
          </a:p>
        </p:txBody>
      </p:sp>
      <p:sp>
        <p:nvSpPr>
          <p:cNvPr id="9" name="Step text"/>
          <p:cNvSpPr txBox="1"/>
          <p:nvPr/>
        </p:nvSpPr>
        <p:spPr>
          <a:xfrm>
            <a:off x="548640" y="2514600"/>
            <a:ext cx="1335024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Shape, data types, missing values, duplicates</a:t>
            </a:r>
          </a:p>
        </p:txBody>
      </p:sp>
      <p:sp>
        <p:nvSpPr>
          <p:cNvPr id="10" name="Step card 2"/>
          <p:cNvSpPr/>
          <p:nvPr/>
        </p:nvSpPr>
        <p:spPr>
          <a:xfrm>
            <a:off x="2093976" y="1417320"/>
            <a:ext cx="1481328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tep number"/>
          <p:cNvSpPr/>
          <p:nvPr/>
        </p:nvSpPr>
        <p:spPr>
          <a:xfrm>
            <a:off x="2203704" y="1554480"/>
            <a:ext cx="457200" cy="457200"/>
          </a:xfrm>
          <a:prstGeom prst="ellipse">
            <a:avLst/>
          </a:prstGeom>
          <a:solidFill>
            <a:srgbClr val="7E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Unbounded"/>
              </a:rPr>
              <a:t>2</a:t>
            </a:r>
          </a:p>
        </p:txBody>
      </p:sp>
      <p:sp>
        <p:nvSpPr>
          <p:cNvPr id="12" name="Step title"/>
          <p:cNvSpPr txBox="1"/>
          <p:nvPr/>
        </p:nvSpPr>
        <p:spPr>
          <a:xfrm>
            <a:off x="2167128" y="2121408"/>
            <a:ext cx="133502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ctor"/>
              </a:rPr>
              <a:t>Clean</a:t>
            </a:r>
          </a:p>
        </p:txBody>
      </p:sp>
      <p:sp>
        <p:nvSpPr>
          <p:cNvPr id="13" name="Step text"/>
          <p:cNvSpPr txBox="1"/>
          <p:nvPr/>
        </p:nvSpPr>
        <p:spPr>
          <a:xfrm>
            <a:off x="2167128" y="2514600"/>
            <a:ext cx="1335024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Dropped 1 duplicate; added BMI and age groups</a:t>
            </a:r>
          </a:p>
        </p:txBody>
      </p:sp>
      <p:sp>
        <p:nvSpPr>
          <p:cNvPr id="14" name="Step card 3"/>
          <p:cNvSpPr/>
          <p:nvPr/>
        </p:nvSpPr>
        <p:spPr>
          <a:xfrm>
            <a:off x="3712464" y="1417320"/>
            <a:ext cx="1481328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ep number"/>
          <p:cNvSpPr/>
          <p:nvPr/>
        </p:nvSpPr>
        <p:spPr>
          <a:xfrm>
            <a:off x="3822192" y="1554480"/>
            <a:ext cx="457200" cy="457200"/>
          </a:xfrm>
          <a:prstGeom prst="ellipse">
            <a:avLst/>
          </a:prstGeom>
          <a:solidFill>
            <a:srgbClr val="7E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Unbounded"/>
              </a:rPr>
              <a:t>3</a:t>
            </a:r>
          </a:p>
        </p:txBody>
      </p:sp>
      <p:sp>
        <p:nvSpPr>
          <p:cNvPr id="16" name="Step title"/>
          <p:cNvSpPr txBox="1"/>
          <p:nvPr/>
        </p:nvSpPr>
        <p:spPr>
          <a:xfrm>
            <a:off x="3785616" y="2121408"/>
            <a:ext cx="133502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ctor"/>
              </a:rPr>
              <a:t>Explore</a:t>
            </a:r>
          </a:p>
        </p:txBody>
      </p:sp>
      <p:sp>
        <p:nvSpPr>
          <p:cNvPr id="17" name="Step text"/>
          <p:cNvSpPr txBox="1"/>
          <p:nvPr/>
        </p:nvSpPr>
        <p:spPr>
          <a:xfrm>
            <a:off x="3785616" y="2514600"/>
            <a:ext cx="1335024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Univariate, bivariate and multivariate EDA, plus SQL queries</a:t>
            </a:r>
          </a:p>
        </p:txBody>
      </p:sp>
      <p:sp>
        <p:nvSpPr>
          <p:cNvPr id="18" name="Step card 4"/>
          <p:cNvSpPr/>
          <p:nvPr/>
        </p:nvSpPr>
        <p:spPr>
          <a:xfrm>
            <a:off x="5330952" y="1417320"/>
            <a:ext cx="1481328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ep number"/>
          <p:cNvSpPr/>
          <p:nvPr/>
        </p:nvSpPr>
        <p:spPr>
          <a:xfrm>
            <a:off x="5440680" y="1554480"/>
            <a:ext cx="457200" cy="457200"/>
          </a:xfrm>
          <a:prstGeom prst="ellipse">
            <a:avLst/>
          </a:prstGeom>
          <a:solidFill>
            <a:srgbClr val="7E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Unbounded"/>
              </a:rPr>
              <a:t>4</a:t>
            </a:r>
          </a:p>
        </p:txBody>
      </p:sp>
      <p:sp>
        <p:nvSpPr>
          <p:cNvPr id="20" name="Step title"/>
          <p:cNvSpPr txBox="1"/>
          <p:nvPr/>
        </p:nvSpPr>
        <p:spPr>
          <a:xfrm>
            <a:off x="5404104" y="2121408"/>
            <a:ext cx="133502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ctor"/>
              </a:rPr>
              <a:t>Model</a:t>
            </a:r>
          </a:p>
        </p:txBody>
      </p:sp>
      <p:sp>
        <p:nvSpPr>
          <p:cNvPr id="21" name="Step text"/>
          <p:cNvSpPr txBox="1"/>
          <p:nvPr/>
        </p:nvSpPr>
        <p:spPr>
          <a:xfrm>
            <a:off x="5404104" y="2514600"/>
            <a:ext cx="1335024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One-hot encoding, 80/20 split, Linear Regression</a:t>
            </a:r>
          </a:p>
        </p:txBody>
      </p:sp>
      <p:sp>
        <p:nvSpPr>
          <p:cNvPr id="22" name="Step card 5"/>
          <p:cNvSpPr/>
          <p:nvPr/>
        </p:nvSpPr>
        <p:spPr>
          <a:xfrm>
            <a:off x="6949440" y="1417320"/>
            <a:ext cx="1481328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ep number"/>
          <p:cNvSpPr/>
          <p:nvPr/>
        </p:nvSpPr>
        <p:spPr>
          <a:xfrm>
            <a:off x="7059168" y="1554480"/>
            <a:ext cx="457200" cy="457200"/>
          </a:xfrm>
          <a:prstGeom prst="ellipse">
            <a:avLst/>
          </a:prstGeom>
          <a:solidFill>
            <a:srgbClr val="7E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Unbounded"/>
              </a:rPr>
              <a:t>5</a:t>
            </a:r>
          </a:p>
        </p:txBody>
      </p:sp>
      <p:sp>
        <p:nvSpPr>
          <p:cNvPr id="24" name="Step title"/>
          <p:cNvSpPr txBox="1"/>
          <p:nvPr/>
        </p:nvSpPr>
        <p:spPr>
          <a:xfrm>
            <a:off x="7022592" y="2121408"/>
            <a:ext cx="133502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ctor"/>
              </a:rPr>
              <a:t>Evaluate</a:t>
            </a:r>
          </a:p>
        </p:txBody>
      </p:sp>
      <p:sp>
        <p:nvSpPr>
          <p:cNvPr id="25" name="Step text"/>
          <p:cNvSpPr txBox="1"/>
          <p:nvPr/>
        </p:nvSpPr>
        <p:spPr>
          <a:xfrm>
            <a:off x="7022592" y="2514600"/>
            <a:ext cx="1335024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R², MAE, RMSE and residual diagnostics</a:t>
            </a:r>
          </a:p>
        </p:txBody>
      </p:sp>
      <p:sp>
        <p:nvSpPr>
          <p:cNvPr id="26" name="Goal"/>
          <p:cNvSpPr txBox="1"/>
          <p:nvPr/>
        </p:nvSpPr>
        <p:spPr>
          <a:xfrm>
            <a:off x="475488" y="4114800"/>
            <a:ext cx="7955279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C9C3E6"/>
                </a:solidFill>
                <a:latin typeface="Actor"/>
              </a:rPr>
              <a:t>Goal: replace rough pricing assumptions with a transparent, data-driven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78065"/>
            <a:ext cx="7863840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Unbounded"/>
              </a:rPr>
              <a:t>Charges Are Right-Skewed</a:t>
            </a:r>
          </a:p>
        </p:txBody>
      </p:sp>
      <p:sp>
        <p:nvSpPr>
          <p:cNvPr id="5" name="Image frame"/>
          <p:cNvSpPr/>
          <p:nvPr/>
        </p:nvSpPr>
        <p:spPr>
          <a:xfrm>
            <a:off x="475488" y="960120"/>
            <a:ext cx="47548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hart image" descr="c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70" y="1024128"/>
            <a:ext cx="4619715" cy="2615184"/>
          </a:xfrm>
          <a:prstGeom prst="rect">
            <a:avLst/>
          </a:prstGeom>
        </p:spPr>
      </p:pic>
      <p:sp>
        <p:nvSpPr>
          <p:cNvPr id="7" name="Stat card"/>
          <p:cNvSpPr/>
          <p:nvPr/>
        </p:nvSpPr>
        <p:spPr>
          <a:xfrm>
            <a:off x="5486400" y="960120"/>
            <a:ext cx="2926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at value"/>
          <p:cNvSpPr txBox="1"/>
          <p:nvPr/>
        </p:nvSpPr>
        <p:spPr>
          <a:xfrm>
            <a:off x="5577840" y="1033272"/>
            <a:ext cx="2743200" cy="7040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Unbounded"/>
              </a:rPr>
              <a:t>$9,386</a:t>
            </a:r>
          </a:p>
        </p:txBody>
      </p:sp>
      <p:sp>
        <p:nvSpPr>
          <p:cNvPr id="9" name="Stat label"/>
          <p:cNvSpPr txBox="1"/>
          <p:nvPr/>
        </p:nvSpPr>
        <p:spPr>
          <a:xfrm>
            <a:off x="5577840" y="1664208"/>
            <a:ext cx="2743200" cy="53766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Median charge</a:t>
            </a:r>
          </a:p>
        </p:txBody>
      </p:sp>
      <p:sp>
        <p:nvSpPr>
          <p:cNvPr id="10" name="Stat card"/>
          <p:cNvSpPr/>
          <p:nvPr/>
        </p:nvSpPr>
        <p:spPr>
          <a:xfrm>
            <a:off x="5486400" y="2423160"/>
            <a:ext cx="2926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tat value"/>
          <p:cNvSpPr txBox="1"/>
          <p:nvPr/>
        </p:nvSpPr>
        <p:spPr>
          <a:xfrm>
            <a:off x="5577840" y="2496312"/>
            <a:ext cx="2743200" cy="7040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Unbounded"/>
              </a:rPr>
              <a:t>$13,279</a:t>
            </a:r>
          </a:p>
        </p:txBody>
      </p:sp>
      <p:sp>
        <p:nvSpPr>
          <p:cNvPr id="12" name="Stat label"/>
          <p:cNvSpPr txBox="1"/>
          <p:nvPr/>
        </p:nvSpPr>
        <p:spPr>
          <a:xfrm>
            <a:off x="5577840" y="3127248"/>
            <a:ext cx="2743200" cy="53766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ctor"/>
              </a:rPr>
              <a:t>Mean charge, pulled up by outliers</a:t>
            </a:r>
          </a:p>
        </p:txBody>
      </p:sp>
      <p:sp>
        <p:nvSpPr>
          <p:cNvPr id="13" name="Takeaway"/>
          <p:cNvSpPr txBox="1"/>
          <p:nvPr/>
        </p:nvSpPr>
        <p:spPr>
          <a:xfrm>
            <a:off x="475488" y="3886200"/>
            <a:ext cx="7955279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ctor"/>
              </a:rPr>
              <a:t>What it means: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most patients pay under $10,000, but a small high-cost group (up to $63,770) forms secondary clusters near $20K and $40K. These are distinct risk groups.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47288"/>
            <a:ext cx="7863840" cy="5478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Unbounded"/>
              </a:rPr>
              <a:t>Who Are the Policyholders?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75488" y="768096"/>
            <a:ext cx="78638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0" dirty="0">
                <a:solidFill>
                  <a:srgbClr val="C9C3E6"/>
                </a:solidFill>
                <a:latin typeface="Actor"/>
              </a:rPr>
              <a:t>Univariate EDA across 1,337 patients</a:t>
            </a:r>
          </a:p>
        </p:txBody>
      </p:sp>
      <p:sp>
        <p:nvSpPr>
          <p:cNvPr id="6" name="Stat card"/>
          <p:cNvSpPr/>
          <p:nvPr/>
        </p:nvSpPr>
        <p:spPr>
          <a:xfrm>
            <a:off x="475488" y="132588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at value"/>
          <p:cNvSpPr txBox="1"/>
          <p:nvPr/>
        </p:nvSpPr>
        <p:spPr>
          <a:xfrm>
            <a:off x="566928" y="1399032"/>
            <a:ext cx="2377439" cy="8046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Unbounded"/>
              </a:rPr>
              <a:t>20%</a:t>
            </a:r>
          </a:p>
        </p:txBody>
      </p:sp>
      <p:sp>
        <p:nvSpPr>
          <p:cNvPr id="8" name="Stat label"/>
          <p:cNvSpPr txBox="1"/>
          <p:nvPr/>
        </p:nvSpPr>
        <p:spPr>
          <a:xfrm>
            <a:off x="566928" y="2130552"/>
            <a:ext cx="2377439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Actor"/>
              </a:rPr>
              <a:t>are smokers (274 patients), a small group with a big impact</a:t>
            </a:r>
          </a:p>
        </p:txBody>
      </p:sp>
      <p:sp>
        <p:nvSpPr>
          <p:cNvPr id="9" name="Stat card"/>
          <p:cNvSpPr/>
          <p:nvPr/>
        </p:nvSpPr>
        <p:spPr>
          <a:xfrm>
            <a:off x="3172968" y="132588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at value"/>
          <p:cNvSpPr txBox="1"/>
          <p:nvPr/>
        </p:nvSpPr>
        <p:spPr>
          <a:xfrm>
            <a:off x="3264408" y="1604391"/>
            <a:ext cx="2377439" cy="39395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 dirty="0">
                <a:solidFill>
                  <a:srgbClr val="1A1A1A"/>
                </a:solidFill>
                <a:latin typeface="Unbounded"/>
              </a:rPr>
              <a:t>50</a:t>
            </a:r>
            <a:r>
              <a:rPr lang="en-US" sz="2200" b="1" i="0" dirty="0">
                <a:solidFill>
                  <a:srgbClr val="1A1A1A"/>
                </a:solidFill>
                <a:latin typeface="Unbounded"/>
              </a:rPr>
              <a:t>.5</a:t>
            </a:r>
            <a:r>
              <a:rPr sz="2200" b="1" i="0" dirty="0">
                <a:solidFill>
                  <a:srgbClr val="1A1A1A"/>
                </a:solidFill>
                <a:latin typeface="Unbounded"/>
              </a:rPr>
              <a:t> / </a:t>
            </a:r>
            <a:r>
              <a:rPr lang="en-US" sz="2200" b="1" i="0" dirty="0">
                <a:solidFill>
                  <a:srgbClr val="1A1A1A"/>
                </a:solidFill>
                <a:latin typeface="Unbounded"/>
              </a:rPr>
              <a:t>49.5</a:t>
            </a:r>
            <a:endParaRPr sz="2200" b="1" i="0" dirty="0">
              <a:solidFill>
                <a:srgbClr val="1A1A1A"/>
              </a:solidFill>
              <a:latin typeface="Unbounded"/>
            </a:endParaRPr>
          </a:p>
        </p:txBody>
      </p:sp>
      <p:sp>
        <p:nvSpPr>
          <p:cNvPr id="11" name="Stat label"/>
          <p:cNvSpPr txBox="1"/>
          <p:nvPr/>
        </p:nvSpPr>
        <p:spPr>
          <a:xfrm>
            <a:off x="3264408" y="2130552"/>
            <a:ext cx="2377439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male and female split, so little sex imbalance</a:t>
            </a:r>
          </a:p>
        </p:txBody>
      </p:sp>
      <p:sp>
        <p:nvSpPr>
          <p:cNvPr id="12" name="Stat card"/>
          <p:cNvSpPr/>
          <p:nvPr/>
        </p:nvSpPr>
        <p:spPr>
          <a:xfrm>
            <a:off x="5870448" y="132588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at value"/>
          <p:cNvSpPr txBox="1"/>
          <p:nvPr/>
        </p:nvSpPr>
        <p:spPr>
          <a:xfrm>
            <a:off x="5961888" y="1399032"/>
            <a:ext cx="2377439" cy="8046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Unbounded"/>
              </a:rPr>
              <a:t>30.7</a:t>
            </a:r>
          </a:p>
        </p:txBody>
      </p:sp>
      <p:sp>
        <p:nvSpPr>
          <p:cNvPr id="14" name="Stat label"/>
          <p:cNvSpPr txBox="1"/>
          <p:nvPr/>
        </p:nvSpPr>
        <p:spPr>
          <a:xfrm>
            <a:off x="5961888" y="2130552"/>
            <a:ext cx="2377439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mean BMI, right at the obesity threshold of 30</a:t>
            </a:r>
          </a:p>
        </p:txBody>
      </p:sp>
      <p:sp>
        <p:nvSpPr>
          <p:cNvPr id="15" name="Stat card"/>
          <p:cNvSpPr/>
          <p:nvPr/>
        </p:nvSpPr>
        <p:spPr>
          <a:xfrm>
            <a:off x="475488" y="297180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at value"/>
          <p:cNvSpPr txBox="1"/>
          <p:nvPr/>
        </p:nvSpPr>
        <p:spPr>
          <a:xfrm>
            <a:off x="566928" y="3044952"/>
            <a:ext cx="2377439" cy="8046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Unbounded"/>
              </a:rPr>
              <a:t>42%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566928" y="3776472"/>
            <a:ext cx="2377439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Actor"/>
              </a:rPr>
              <a:t>have no children; only 3% have 4 or 5</a:t>
            </a:r>
          </a:p>
        </p:txBody>
      </p:sp>
      <p:sp>
        <p:nvSpPr>
          <p:cNvPr id="18" name="Stat card"/>
          <p:cNvSpPr/>
          <p:nvPr/>
        </p:nvSpPr>
        <p:spPr>
          <a:xfrm>
            <a:off x="3172968" y="297180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at value"/>
          <p:cNvSpPr txBox="1"/>
          <p:nvPr/>
        </p:nvSpPr>
        <p:spPr>
          <a:xfrm>
            <a:off x="3264408" y="3044952"/>
            <a:ext cx="2377439" cy="8046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 dirty="0">
                <a:solidFill>
                  <a:srgbClr val="1A1A1A"/>
                </a:solidFill>
                <a:latin typeface="Unbounded"/>
              </a:rPr>
              <a:t>27%</a:t>
            </a:r>
          </a:p>
        </p:txBody>
      </p:sp>
      <p:sp>
        <p:nvSpPr>
          <p:cNvPr id="20" name="Stat label"/>
          <p:cNvSpPr txBox="1"/>
          <p:nvPr/>
        </p:nvSpPr>
        <p:spPr>
          <a:xfrm>
            <a:off x="3264408" y="3703320"/>
            <a:ext cx="2377439" cy="7017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Actor"/>
              </a:rPr>
              <a:t>live in the Southeast, the largest region; the others sit near 24% each</a:t>
            </a:r>
          </a:p>
        </p:txBody>
      </p:sp>
      <p:sp>
        <p:nvSpPr>
          <p:cNvPr id="21" name="Stat card"/>
          <p:cNvSpPr/>
          <p:nvPr/>
        </p:nvSpPr>
        <p:spPr>
          <a:xfrm>
            <a:off x="5870448" y="297180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tat value"/>
          <p:cNvSpPr txBox="1"/>
          <p:nvPr/>
        </p:nvSpPr>
        <p:spPr>
          <a:xfrm>
            <a:off x="5961888" y="3044952"/>
            <a:ext cx="2377439" cy="8046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Unbounded"/>
              </a:rPr>
              <a:t>18-64</a:t>
            </a:r>
          </a:p>
        </p:txBody>
      </p:sp>
      <p:sp>
        <p:nvSpPr>
          <p:cNvPr id="23" name="Stat label"/>
          <p:cNvSpPr txBox="1"/>
          <p:nvPr/>
        </p:nvSpPr>
        <p:spPr>
          <a:xfrm>
            <a:off x="5961888" y="3776472"/>
            <a:ext cx="2377439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Actor"/>
              </a:rPr>
              <a:t>age range, with a spike of young adults aged 18-20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308842"/>
            <a:ext cx="7863840" cy="4247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Unbounded"/>
              </a:rPr>
              <a:t>Smoking Is the Biggest Cost Driver</a:t>
            </a:r>
          </a:p>
        </p:txBody>
      </p:sp>
      <p:sp>
        <p:nvSpPr>
          <p:cNvPr id="5" name="Chart panel"/>
          <p:cNvSpPr/>
          <p:nvPr/>
        </p:nvSpPr>
        <p:spPr>
          <a:xfrm>
            <a:off x="475488" y="960120"/>
            <a:ext cx="4572000" cy="2834640"/>
          </a:xfrm>
          <a:prstGeom prst="roundRect">
            <a:avLst>
              <a:gd name="adj" fmla="val 12000"/>
            </a:avLst>
          </a:prstGeom>
          <a:solidFill>
            <a:srgbClr val="2A2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Avg charge by smoking status"/>
          <p:cNvGraphicFramePr>
            <a:graphicFrameLocks noGrp="1"/>
          </p:cNvGraphicFramePr>
          <p:nvPr/>
        </p:nvGraphicFramePr>
        <p:xfrm>
          <a:off x="566928" y="1005840"/>
          <a:ext cx="4389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tat card"/>
          <p:cNvSpPr/>
          <p:nvPr/>
        </p:nvSpPr>
        <p:spPr>
          <a:xfrm>
            <a:off x="5349240" y="960120"/>
            <a:ext cx="30632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at value"/>
          <p:cNvSpPr txBox="1"/>
          <p:nvPr/>
        </p:nvSpPr>
        <p:spPr>
          <a:xfrm>
            <a:off x="5440679" y="1033272"/>
            <a:ext cx="2880360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Unbounded"/>
              </a:rPr>
              <a:t>3.8×</a:t>
            </a:r>
          </a:p>
        </p:txBody>
      </p:sp>
      <p:sp>
        <p:nvSpPr>
          <p:cNvPr id="9" name="Stat label"/>
          <p:cNvSpPr txBox="1"/>
          <p:nvPr/>
        </p:nvSpPr>
        <p:spPr>
          <a:xfrm>
            <a:off x="5440679" y="1645920"/>
            <a:ext cx="288036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0" dirty="0">
                <a:solidFill>
                  <a:srgbClr val="1A1A1A"/>
                </a:solidFill>
                <a:latin typeface="Actor"/>
              </a:rPr>
              <a:t>Smokers pay 3.8 times more on average</a:t>
            </a:r>
          </a:p>
        </p:txBody>
      </p:sp>
      <p:sp>
        <p:nvSpPr>
          <p:cNvPr id="10" name="Stat card"/>
          <p:cNvSpPr/>
          <p:nvPr/>
        </p:nvSpPr>
        <p:spPr>
          <a:xfrm>
            <a:off x="5349240" y="2468880"/>
            <a:ext cx="30632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tat value"/>
          <p:cNvSpPr txBox="1"/>
          <p:nvPr/>
        </p:nvSpPr>
        <p:spPr>
          <a:xfrm>
            <a:off x="5440679" y="2542032"/>
            <a:ext cx="2880360" cy="72923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Unbounded"/>
              </a:rPr>
              <a:t>$23,610</a:t>
            </a:r>
          </a:p>
        </p:txBody>
      </p:sp>
      <p:sp>
        <p:nvSpPr>
          <p:cNvPr id="12" name="Stat label"/>
          <p:cNvSpPr txBox="1"/>
          <p:nvPr/>
        </p:nvSpPr>
        <p:spPr>
          <a:xfrm>
            <a:off x="5440679" y="3149446"/>
            <a:ext cx="288036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0" dirty="0">
                <a:solidFill>
                  <a:srgbClr val="1A1A1A"/>
                </a:solidFill>
                <a:latin typeface="Actor"/>
              </a:rPr>
              <a:t>Average gap per patient (SQL Q1b)</a:t>
            </a:r>
          </a:p>
        </p:txBody>
      </p:sp>
      <p:sp>
        <p:nvSpPr>
          <p:cNvPr id="13" name="Takeaway"/>
          <p:cNvSpPr txBox="1"/>
          <p:nvPr/>
        </p:nvSpPr>
        <p:spPr>
          <a:xfrm>
            <a:off x="475488" y="3977639"/>
            <a:ext cx="7955279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Actor"/>
              </a:rPr>
              <a:t>What it means: </a:t>
            </a:r>
            <a:r>
              <a:rPr b="0" i="0" dirty="0">
                <a:solidFill>
                  <a:srgbClr val="FFFFFF"/>
                </a:solidFill>
                <a:latin typeface="Actor"/>
              </a:rPr>
              <a:t>the two groups barely overlap. Even the cheapest smoker ($12,829) costs more than the typical non-smoker ($7,346 median).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78065"/>
            <a:ext cx="7863840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Unbounded"/>
              </a:rPr>
              <a:t>Smoking + Obesity Is Double Risk</a:t>
            </a:r>
          </a:p>
        </p:txBody>
      </p:sp>
      <p:sp>
        <p:nvSpPr>
          <p:cNvPr id="5" name="Image frame"/>
          <p:cNvSpPr/>
          <p:nvPr/>
        </p:nvSpPr>
        <p:spPr>
          <a:xfrm>
            <a:off x="475488" y="960120"/>
            <a:ext cx="512064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hart image" descr="c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5" y="1033535"/>
            <a:ext cx="4992624" cy="2550649"/>
          </a:xfrm>
          <a:prstGeom prst="rect">
            <a:avLst/>
          </a:prstGeom>
        </p:spPr>
      </p:pic>
      <p:sp>
        <p:nvSpPr>
          <p:cNvPr id="7" name="Stat card"/>
          <p:cNvSpPr/>
          <p:nvPr/>
        </p:nvSpPr>
        <p:spPr>
          <a:xfrm>
            <a:off x="5852160" y="960120"/>
            <a:ext cx="25603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at value"/>
          <p:cNvSpPr txBox="1"/>
          <p:nvPr/>
        </p:nvSpPr>
        <p:spPr>
          <a:xfrm>
            <a:off x="5943600" y="1033272"/>
            <a:ext cx="2377439" cy="7040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Unbounded"/>
              </a:rPr>
              <a:t>$41,558</a:t>
            </a:r>
          </a:p>
        </p:txBody>
      </p:sp>
      <p:sp>
        <p:nvSpPr>
          <p:cNvPr id="9" name="Stat label"/>
          <p:cNvSpPr txBox="1"/>
          <p:nvPr/>
        </p:nvSpPr>
        <p:spPr>
          <a:xfrm>
            <a:off x="5943600" y="1600599"/>
            <a:ext cx="2377439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Avg charge, obese smokers (SQL Q7)</a:t>
            </a:r>
          </a:p>
        </p:txBody>
      </p:sp>
      <p:sp>
        <p:nvSpPr>
          <p:cNvPr id="10" name="Side notes"/>
          <p:cNvSpPr txBox="1"/>
          <p:nvPr/>
        </p:nvSpPr>
        <p:spPr>
          <a:xfrm>
            <a:off x="5852160" y="2377440"/>
            <a:ext cx="2606040" cy="11172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FFFFFF"/>
                </a:solidFill>
                <a:latin typeface="Actor"/>
              </a:rPr>
              <a:t>Non-smokers: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charges stay low and flat across BMI.</a:t>
            </a:r>
          </a:p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FFFFFF"/>
                </a:solidFill>
                <a:latin typeface="Actor"/>
              </a:rPr>
              <a:t>Smokers: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charges jump sharply once BMI passes 30.</a:t>
            </a:r>
          </a:p>
        </p:txBody>
      </p:sp>
      <p:sp>
        <p:nvSpPr>
          <p:cNvPr id="11" name="Takeaway"/>
          <p:cNvSpPr txBox="1"/>
          <p:nvPr/>
        </p:nvSpPr>
        <p:spPr>
          <a:xfrm>
            <a:off x="475488" y="3840480"/>
            <a:ext cx="7955279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ctor"/>
              </a:rPr>
              <a:t>What it means: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the two risks compound. All of the top 10 most expensive patients are smokers with BMI above 30, which is the group wellness programs should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47288"/>
            <a:ext cx="7863840" cy="5478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Unbounded"/>
              </a:rPr>
              <a:t>Age, Region and Sex</a:t>
            </a:r>
          </a:p>
        </p:txBody>
      </p:sp>
      <p:sp>
        <p:nvSpPr>
          <p:cNvPr id="5" name="Image frame"/>
          <p:cNvSpPr/>
          <p:nvPr/>
        </p:nvSpPr>
        <p:spPr>
          <a:xfrm>
            <a:off x="475488" y="960120"/>
            <a:ext cx="39319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hart image" descr="c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5" y="1058911"/>
            <a:ext cx="3803904" cy="2088417"/>
          </a:xfrm>
          <a:prstGeom prst="rect">
            <a:avLst/>
          </a:prstGeom>
        </p:spPr>
      </p:pic>
      <p:sp>
        <p:nvSpPr>
          <p:cNvPr id="7" name="Chart panel"/>
          <p:cNvSpPr/>
          <p:nvPr/>
        </p:nvSpPr>
        <p:spPr>
          <a:xfrm>
            <a:off x="4572000" y="960120"/>
            <a:ext cx="3840480" cy="2286000"/>
          </a:xfrm>
          <a:prstGeom prst="roundRect">
            <a:avLst>
              <a:gd name="adj" fmla="val 12000"/>
            </a:avLst>
          </a:prstGeom>
          <a:solidFill>
            <a:srgbClr val="2A2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Avg charge by region"/>
          <p:cNvGraphicFramePr>
            <a:graphicFrameLocks noGrp="1"/>
          </p:cNvGraphicFramePr>
          <p:nvPr/>
        </p:nvGraphicFramePr>
        <p:xfrm>
          <a:off x="4617720" y="1005840"/>
          <a:ext cx="3749039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Age note"/>
          <p:cNvSpPr txBox="1"/>
          <p:nvPr/>
        </p:nvSpPr>
        <p:spPr>
          <a:xfrm>
            <a:off x="475488" y="3337560"/>
            <a:ext cx="3931920" cy="6709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ctor"/>
              </a:rPr>
              <a:t>Age: </a:t>
            </a:r>
            <a:r>
              <a:rPr sz="2000" b="0" i="0" dirty="0">
                <a:solidFill>
                  <a:srgbClr val="FFFFFF"/>
                </a:solidFill>
                <a:latin typeface="Actor"/>
              </a:rPr>
              <a:t>charges climb steadily with age; the 56-64 group is the costliest.</a:t>
            </a:r>
          </a:p>
        </p:txBody>
      </p:sp>
      <p:sp>
        <p:nvSpPr>
          <p:cNvPr id="10" name="Region sex note"/>
          <p:cNvSpPr txBox="1"/>
          <p:nvPr/>
        </p:nvSpPr>
        <p:spPr>
          <a:xfrm>
            <a:off x="4572000" y="3337560"/>
            <a:ext cx="3840480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Actor"/>
              </a:rPr>
              <a:t>Region: </a:t>
            </a:r>
            <a:r>
              <a:rPr b="0" i="0" dirty="0">
                <a:solidFill>
                  <a:srgbClr val="FFFFFF"/>
                </a:solidFill>
                <a:latin typeface="Actor"/>
              </a:rPr>
              <a:t>Southeast is slightly higher.</a:t>
            </a:r>
            <a:endParaRPr lang="en-US" b="0" i="0" dirty="0">
              <a:solidFill>
                <a:srgbClr val="FFFFFF"/>
              </a:solidFill>
              <a:latin typeface="Actor"/>
            </a:endParaRPr>
          </a:p>
          <a:p>
            <a:pPr algn="l"/>
            <a:r>
              <a:rPr b="1" i="0" dirty="0">
                <a:solidFill>
                  <a:srgbClr val="FFFFFF"/>
                </a:solidFill>
                <a:latin typeface="Actor"/>
              </a:rPr>
              <a:t>Sex: </a:t>
            </a:r>
            <a:r>
              <a:rPr b="0" i="0" dirty="0">
                <a:solidFill>
                  <a:srgbClr val="FFFFFF"/>
                </a:solidFill>
                <a:latin typeface="Actor"/>
              </a:rPr>
              <a:t>median charge is almost identical ($9.4K); men average more only because of a few high-cost outliers.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78065"/>
            <a:ext cx="7863840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Unbounded"/>
              </a:rPr>
              <a:t>What Moves With Charges?</a:t>
            </a:r>
          </a:p>
        </p:txBody>
      </p:sp>
      <p:sp>
        <p:nvSpPr>
          <p:cNvPr id="5" name="Image frame"/>
          <p:cNvSpPr/>
          <p:nvPr/>
        </p:nvSpPr>
        <p:spPr>
          <a:xfrm>
            <a:off x="475488" y="960120"/>
            <a:ext cx="411480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hart image" descr="c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5" y="1166380"/>
            <a:ext cx="3986784" cy="3199358"/>
          </a:xfrm>
          <a:prstGeom prst="rect">
            <a:avLst/>
          </a:prstGeom>
        </p:spPr>
      </p:pic>
      <p:sp>
        <p:nvSpPr>
          <p:cNvPr id="7" name="Stat card"/>
          <p:cNvSpPr/>
          <p:nvPr/>
        </p:nvSpPr>
        <p:spPr>
          <a:xfrm>
            <a:off x="4846320" y="960120"/>
            <a:ext cx="35661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at value"/>
          <p:cNvSpPr txBox="1"/>
          <p:nvPr/>
        </p:nvSpPr>
        <p:spPr>
          <a:xfrm>
            <a:off x="4937759" y="1033272"/>
            <a:ext cx="3383279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Unbounded"/>
              </a:rPr>
              <a:t>0.79</a:t>
            </a:r>
          </a:p>
        </p:txBody>
      </p:sp>
      <p:sp>
        <p:nvSpPr>
          <p:cNvPr id="9" name="Stat label"/>
          <p:cNvSpPr txBox="1"/>
          <p:nvPr/>
        </p:nvSpPr>
        <p:spPr>
          <a:xfrm>
            <a:off x="4937759" y="1538478"/>
            <a:ext cx="3383279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Smoker vs charges: strongest link</a:t>
            </a:r>
          </a:p>
        </p:txBody>
      </p:sp>
      <p:sp>
        <p:nvSpPr>
          <p:cNvPr id="10" name="Stat card"/>
          <p:cNvSpPr/>
          <p:nvPr/>
        </p:nvSpPr>
        <p:spPr>
          <a:xfrm>
            <a:off x="4846320" y="2148840"/>
            <a:ext cx="35661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tat value"/>
          <p:cNvSpPr txBox="1"/>
          <p:nvPr/>
        </p:nvSpPr>
        <p:spPr>
          <a:xfrm>
            <a:off x="4937759" y="2221992"/>
            <a:ext cx="3383279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Unbounded"/>
              </a:rPr>
              <a:t>0.30</a:t>
            </a:r>
          </a:p>
        </p:txBody>
      </p:sp>
      <p:sp>
        <p:nvSpPr>
          <p:cNvPr id="12" name="Stat label"/>
          <p:cNvSpPr txBox="1"/>
          <p:nvPr/>
        </p:nvSpPr>
        <p:spPr>
          <a:xfrm>
            <a:off x="4937759" y="2727198"/>
            <a:ext cx="3383279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Age vs charges: moderate</a:t>
            </a:r>
          </a:p>
        </p:txBody>
      </p:sp>
      <p:sp>
        <p:nvSpPr>
          <p:cNvPr id="13" name="Stat card"/>
          <p:cNvSpPr/>
          <p:nvPr/>
        </p:nvSpPr>
        <p:spPr>
          <a:xfrm>
            <a:off x="4846320" y="3337560"/>
            <a:ext cx="35661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tat value"/>
          <p:cNvSpPr txBox="1"/>
          <p:nvPr/>
        </p:nvSpPr>
        <p:spPr>
          <a:xfrm>
            <a:off x="4937759" y="3410712"/>
            <a:ext cx="3383279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Unbounded"/>
              </a:rPr>
              <a:t>0.20</a:t>
            </a:r>
          </a:p>
        </p:txBody>
      </p:sp>
      <p:sp>
        <p:nvSpPr>
          <p:cNvPr id="15" name="Stat label"/>
          <p:cNvSpPr txBox="1"/>
          <p:nvPr/>
        </p:nvSpPr>
        <p:spPr>
          <a:xfrm>
            <a:off x="4937759" y="3915918"/>
            <a:ext cx="3383279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BMI vs charges: weak alone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92608"/>
            <a:ext cx="78638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Unbounded"/>
              </a:rPr>
              <a:t>SQL Analysis: Business Questions</a:t>
            </a:r>
          </a:p>
        </p:txBody>
      </p:sp>
      <p:sp>
        <p:nvSpPr>
          <p:cNvPr id="5" name="SQL row"/>
          <p:cNvSpPr/>
          <p:nvPr/>
        </p:nvSpPr>
        <p:spPr>
          <a:xfrm>
            <a:off x="475488" y="914400"/>
            <a:ext cx="7955279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QL question"/>
          <p:cNvSpPr txBox="1"/>
          <p:nvPr/>
        </p:nvSpPr>
        <p:spPr>
          <a:xfrm>
            <a:off x="594360" y="1074485"/>
            <a:ext cx="265176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ctor"/>
              </a:rPr>
              <a:t>Smokers vs non-smokers</a:t>
            </a:r>
          </a:p>
        </p:txBody>
      </p:sp>
      <p:sp>
        <p:nvSpPr>
          <p:cNvPr id="7" name="SQL finding"/>
          <p:cNvSpPr txBox="1"/>
          <p:nvPr/>
        </p:nvSpPr>
        <p:spPr>
          <a:xfrm>
            <a:off x="3291840" y="1089874"/>
            <a:ext cx="347472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Actor"/>
              </a:rPr>
              <a:t>Average charge $32,050 vs $8,441</a:t>
            </a:r>
          </a:p>
        </p:txBody>
      </p:sp>
      <p:sp>
        <p:nvSpPr>
          <p:cNvPr id="8" name="SQL value"/>
          <p:cNvSpPr txBox="1"/>
          <p:nvPr/>
        </p:nvSpPr>
        <p:spPr>
          <a:xfrm>
            <a:off x="6766560" y="914400"/>
            <a:ext cx="1554480" cy="62179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700" b="1" i="0">
                <a:solidFill>
                  <a:srgbClr val="7E4FCF"/>
                </a:solidFill>
                <a:latin typeface="Unbounded"/>
              </a:rPr>
              <a:t>3.8×</a:t>
            </a:r>
          </a:p>
        </p:txBody>
      </p:sp>
      <p:sp>
        <p:nvSpPr>
          <p:cNvPr id="9" name="SQL row"/>
          <p:cNvSpPr/>
          <p:nvPr/>
        </p:nvSpPr>
        <p:spPr>
          <a:xfrm>
            <a:off x="475488" y="1645920"/>
            <a:ext cx="7955279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QL question"/>
          <p:cNvSpPr txBox="1"/>
          <p:nvPr/>
        </p:nvSpPr>
        <p:spPr>
          <a:xfrm>
            <a:off x="594360" y="1806005"/>
            <a:ext cx="265176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ctor"/>
              </a:rPr>
              <a:t>Costliest age group</a:t>
            </a:r>
          </a:p>
        </p:txBody>
      </p:sp>
      <p:sp>
        <p:nvSpPr>
          <p:cNvPr id="11" name="SQL finding"/>
          <p:cNvSpPr txBox="1"/>
          <p:nvPr/>
        </p:nvSpPr>
        <p:spPr>
          <a:xfrm>
            <a:off x="3291840" y="1821394"/>
            <a:ext cx="347472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Actor"/>
              </a:rPr>
              <a:t>Charges rise with age; ages 56-64 highest</a:t>
            </a:r>
          </a:p>
        </p:txBody>
      </p:sp>
      <p:sp>
        <p:nvSpPr>
          <p:cNvPr id="12" name="SQL value"/>
          <p:cNvSpPr txBox="1"/>
          <p:nvPr/>
        </p:nvSpPr>
        <p:spPr>
          <a:xfrm>
            <a:off x="6766560" y="1645920"/>
            <a:ext cx="1554480" cy="62179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700" b="1" i="0">
                <a:solidFill>
                  <a:srgbClr val="7E4FCF"/>
                </a:solidFill>
                <a:latin typeface="Unbounded"/>
              </a:rPr>
              <a:t>56-64</a:t>
            </a:r>
          </a:p>
        </p:txBody>
      </p:sp>
      <p:sp>
        <p:nvSpPr>
          <p:cNvPr id="13" name="SQL row"/>
          <p:cNvSpPr/>
          <p:nvPr/>
        </p:nvSpPr>
        <p:spPr>
          <a:xfrm>
            <a:off x="475488" y="2377440"/>
            <a:ext cx="7955279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QL question"/>
          <p:cNvSpPr txBox="1"/>
          <p:nvPr/>
        </p:nvSpPr>
        <p:spPr>
          <a:xfrm>
            <a:off x="594360" y="2537525"/>
            <a:ext cx="265176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ctor"/>
              </a:rPr>
              <a:t>Effect of BMI category</a:t>
            </a:r>
          </a:p>
        </p:txBody>
      </p:sp>
      <p:sp>
        <p:nvSpPr>
          <p:cNvPr id="15" name="SQL finding"/>
          <p:cNvSpPr txBox="1"/>
          <p:nvPr/>
        </p:nvSpPr>
        <p:spPr>
          <a:xfrm>
            <a:off x="3291840" y="2552914"/>
            <a:ext cx="347472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Actor"/>
              </a:rPr>
              <a:t>Obese is the largest group and pays the most</a:t>
            </a:r>
          </a:p>
        </p:txBody>
      </p:sp>
      <p:sp>
        <p:nvSpPr>
          <p:cNvPr id="16" name="SQL value"/>
          <p:cNvSpPr txBox="1"/>
          <p:nvPr/>
        </p:nvSpPr>
        <p:spPr>
          <a:xfrm>
            <a:off x="6766560" y="2377440"/>
            <a:ext cx="1554480" cy="62179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700" b="1" i="0">
                <a:solidFill>
                  <a:srgbClr val="7E4FCF"/>
                </a:solidFill>
                <a:latin typeface="Unbounded"/>
              </a:rPr>
              <a:t>Obese</a:t>
            </a:r>
          </a:p>
        </p:txBody>
      </p:sp>
      <p:sp>
        <p:nvSpPr>
          <p:cNvPr id="17" name="SQL row"/>
          <p:cNvSpPr/>
          <p:nvPr/>
        </p:nvSpPr>
        <p:spPr>
          <a:xfrm>
            <a:off x="475488" y="3108960"/>
            <a:ext cx="7955279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QL question"/>
          <p:cNvSpPr txBox="1"/>
          <p:nvPr/>
        </p:nvSpPr>
        <p:spPr>
          <a:xfrm>
            <a:off x="594360" y="3269045"/>
            <a:ext cx="265176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ctor"/>
              </a:rPr>
              <a:t>Obese smokers (Q7)</a:t>
            </a:r>
          </a:p>
        </p:txBody>
      </p:sp>
      <p:sp>
        <p:nvSpPr>
          <p:cNvPr id="19" name="SQL finding"/>
          <p:cNvSpPr txBox="1"/>
          <p:nvPr/>
        </p:nvSpPr>
        <p:spPr>
          <a:xfrm>
            <a:off x="3291840" y="3284434"/>
            <a:ext cx="347472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Actor"/>
              </a:rPr>
              <a:t>Costliest subgroup by a wide margin</a:t>
            </a:r>
          </a:p>
        </p:txBody>
      </p:sp>
      <p:sp>
        <p:nvSpPr>
          <p:cNvPr id="20" name="SQL value"/>
          <p:cNvSpPr txBox="1"/>
          <p:nvPr/>
        </p:nvSpPr>
        <p:spPr>
          <a:xfrm>
            <a:off x="6766560" y="3108960"/>
            <a:ext cx="1554480" cy="62179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700" b="1" i="0">
                <a:solidFill>
                  <a:srgbClr val="7E4FCF"/>
                </a:solidFill>
                <a:latin typeface="Unbounded"/>
              </a:rPr>
              <a:t>$41,558</a:t>
            </a:r>
          </a:p>
        </p:txBody>
      </p:sp>
      <p:sp>
        <p:nvSpPr>
          <p:cNvPr id="21" name="SQL row"/>
          <p:cNvSpPr/>
          <p:nvPr/>
        </p:nvSpPr>
        <p:spPr>
          <a:xfrm>
            <a:off x="475488" y="3840480"/>
            <a:ext cx="7955279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QL question"/>
          <p:cNvSpPr txBox="1"/>
          <p:nvPr/>
        </p:nvSpPr>
        <p:spPr>
          <a:xfrm>
            <a:off x="594360" y="4000565"/>
            <a:ext cx="265176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ctor"/>
              </a:rPr>
              <a:t>Regions averaging &gt; $13K</a:t>
            </a:r>
          </a:p>
        </p:txBody>
      </p:sp>
      <p:sp>
        <p:nvSpPr>
          <p:cNvPr id="23" name="SQL finding"/>
          <p:cNvSpPr txBox="1"/>
          <p:nvPr/>
        </p:nvSpPr>
        <p:spPr>
          <a:xfrm>
            <a:off x="3291840" y="4015954"/>
            <a:ext cx="347472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Actor"/>
              </a:rPr>
              <a:t>Southeast first, then Northeast (HAVING)</a:t>
            </a:r>
          </a:p>
        </p:txBody>
      </p:sp>
      <p:sp>
        <p:nvSpPr>
          <p:cNvPr id="24" name="SQL value"/>
          <p:cNvSpPr txBox="1"/>
          <p:nvPr/>
        </p:nvSpPr>
        <p:spPr>
          <a:xfrm>
            <a:off x="6766560" y="3840480"/>
            <a:ext cx="1554480" cy="62179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700" b="1" i="0">
                <a:solidFill>
                  <a:srgbClr val="7E4FCF"/>
                </a:solidFill>
                <a:latin typeface="Unbounded"/>
              </a:rPr>
              <a:t>2 of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78065"/>
            <a:ext cx="7863840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Unbounded"/>
              </a:rPr>
              <a:t>Preparing the Model</a:t>
            </a:r>
          </a:p>
        </p:txBody>
      </p:sp>
      <p:sp>
        <p:nvSpPr>
          <p:cNvPr id="5" name="Prep card"/>
          <p:cNvSpPr/>
          <p:nvPr/>
        </p:nvSpPr>
        <p:spPr>
          <a:xfrm>
            <a:off x="475488" y="960120"/>
            <a:ext cx="45720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rep title"/>
          <p:cNvSpPr txBox="1"/>
          <p:nvPr/>
        </p:nvSpPr>
        <p:spPr>
          <a:xfrm>
            <a:off x="594360" y="1005840"/>
            <a:ext cx="43434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 dirty="0">
                <a:solidFill>
                  <a:srgbClr val="1A1A1A"/>
                </a:solidFill>
                <a:latin typeface="Actor"/>
              </a:rPr>
              <a:t>X and y</a:t>
            </a:r>
          </a:p>
        </p:txBody>
      </p:sp>
      <p:sp>
        <p:nvSpPr>
          <p:cNvPr id="7" name="Prep text"/>
          <p:cNvSpPr txBox="1"/>
          <p:nvPr/>
        </p:nvSpPr>
        <p:spPr>
          <a:xfrm>
            <a:off x="594360" y="1344168"/>
            <a:ext cx="434340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y = charges. X = 8 columns: age, BMI, children, sex, smoker and 3 region dummies.</a:t>
            </a:r>
          </a:p>
        </p:txBody>
      </p:sp>
      <p:sp>
        <p:nvSpPr>
          <p:cNvPr id="8" name="Prep card"/>
          <p:cNvSpPr/>
          <p:nvPr/>
        </p:nvSpPr>
        <p:spPr>
          <a:xfrm>
            <a:off x="475488" y="2194560"/>
            <a:ext cx="45720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rep title"/>
          <p:cNvSpPr txBox="1"/>
          <p:nvPr/>
        </p:nvSpPr>
        <p:spPr>
          <a:xfrm>
            <a:off x="594360" y="2240280"/>
            <a:ext cx="43434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 dirty="0">
                <a:solidFill>
                  <a:srgbClr val="1A1A1A"/>
                </a:solidFill>
                <a:latin typeface="Actor"/>
              </a:rPr>
              <a:t>Encoding</a:t>
            </a:r>
          </a:p>
        </p:txBody>
      </p:sp>
      <p:sp>
        <p:nvSpPr>
          <p:cNvPr id="10" name="Prep text"/>
          <p:cNvSpPr txBox="1"/>
          <p:nvPr/>
        </p:nvSpPr>
        <p:spPr>
          <a:xfrm>
            <a:off x="594360" y="2578608"/>
            <a:ext cx="434340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Text columns became 0/1 with one-hot encoding. </a:t>
            </a:r>
            <a:r>
              <a:rPr sz="1600" b="0" i="0" dirty="0" err="1">
                <a:solidFill>
                  <a:srgbClr val="1A1A1A"/>
                </a:solidFill>
                <a:latin typeface="Actor"/>
              </a:rPr>
              <a:t>drop_first</a:t>
            </a:r>
            <a:r>
              <a:rPr sz="1600" b="0" i="0" dirty="0">
                <a:solidFill>
                  <a:srgbClr val="1A1A1A"/>
                </a:solidFill>
                <a:latin typeface="Actor"/>
              </a:rPr>
              <a:t>=True avoids the dummy-variable trap.</a:t>
            </a:r>
          </a:p>
        </p:txBody>
      </p:sp>
      <p:sp>
        <p:nvSpPr>
          <p:cNvPr id="11" name="Prep card"/>
          <p:cNvSpPr/>
          <p:nvPr/>
        </p:nvSpPr>
        <p:spPr>
          <a:xfrm>
            <a:off x="475488" y="3429000"/>
            <a:ext cx="45720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rep title"/>
          <p:cNvSpPr txBox="1"/>
          <p:nvPr/>
        </p:nvSpPr>
        <p:spPr>
          <a:xfrm>
            <a:off x="594360" y="3474720"/>
            <a:ext cx="43434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 dirty="0">
                <a:solidFill>
                  <a:srgbClr val="1A1A1A"/>
                </a:solidFill>
                <a:latin typeface="Actor"/>
              </a:rPr>
              <a:t>Split</a:t>
            </a:r>
          </a:p>
        </p:txBody>
      </p:sp>
      <p:sp>
        <p:nvSpPr>
          <p:cNvPr id="13" name="Prep text"/>
          <p:cNvSpPr txBox="1"/>
          <p:nvPr/>
        </p:nvSpPr>
        <p:spPr>
          <a:xfrm>
            <a:off x="594360" y="3813048"/>
            <a:ext cx="434340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80% train (1,069 patients), 20% test (268), </a:t>
            </a:r>
            <a:r>
              <a:rPr sz="1600" b="0" i="0" dirty="0" err="1">
                <a:solidFill>
                  <a:srgbClr val="1A1A1A"/>
                </a:solidFill>
                <a:latin typeface="Actor"/>
              </a:rPr>
              <a:t>random_state</a:t>
            </a:r>
            <a:r>
              <a:rPr sz="1600" b="0" i="0" dirty="0">
                <a:solidFill>
                  <a:srgbClr val="1A1A1A"/>
                </a:solidFill>
                <a:latin typeface="Actor"/>
              </a:rPr>
              <a:t>=42 for reproducibility.</a:t>
            </a:r>
          </a:p>
        </p:txBody>
      </p:sp>
      <p:sp>
        <p:nvSpPr>
          <p:cNvPr id="14" name="Why split card"/>
          <p:cNvSpPr/>
          <p:nvPr/>
        </p:nvSpPr>
        <p:spPr>
          <a:xfrm>
            <a:off x="5303520" y="960120"/>
            <a:ext cx="3108960" cy="3566160"/>
          </a:xfrm>
          <a:prstGeom prst="roundRect">
            <a:avLst>
              <a:gd name="adj" fmla="val 12000"/>
            </a:avLst>
          </a:prstGeom>
          <a:solidFill>
            <a:srgbClr val="7E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Why split title"/>
          <p:cNvSpPr txBox="1"/>
          <p:nvPr/>
        </p:nvSpPr>
        <p:spPr>
          <a:xfrm>
            <a:off x="5440680" y="1051560"/>
            <a:ext cx="28346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ctor"/>
              </a:rPr>
              <a:t>Why split the data?</a:t>
            </a:r>
          </a:p>
        </p:txBody>
      </p:sp>
      <p:sp>
        <p:nvSpPr>
          <p:cNvPr id="16" name="Why split text"/>
          <p:cNvSpPr txBox="1"/>
          <p:nvPr/>
        </p:nvSpPr>
        <p:spPr>
          <a:xfrm>
            <a:off x="5440680" y="1508760"/>
            <a:ext cx="2834640" cy="22303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 dirty="0">
                <a:solidFill>
                  <a:srgbClr val="FFFFFF"/>
                </a:solidFill>
                <a:latin typeface="Actor"/>
              </a:rPr>
              <a:t>We test on patients the model has never seen.</a:t>
            </a:r>
          </a:p>
          <a:p>
            <a:pPr algn="l">
              <a:spcAft>
                <a:spcPts val="800"/>
              </a:spcAft>
            </a:pPr>
            <a:r>
              <a:rPr sz="1600" b="0" i="0" dirty="0">
                <a:solidFill>
                  <a:srgbClr val="FFFFFF"/>
                </a:solidFill>
                <a:latin typeface="Actor"/>
              </a:rPr>
              <a:t>If it only scored well on training data, it might just be memorizing.</a:t>
            </a:r>
          </a:p>
          <a:p>
            <a:pPr algn="l">
              <a:spcAft>
                <a:spcPts val="800"/>
              </a:spcAft>
            </a:pPr>
            <a:r>
              <a:rPr sz="1600" b="0" i="0" dirty="0">
                <a:solidFill>
                  <a:srgbClr val="FFFFFF"/>
                </a:solidFill>
                <a:latin typeface="Actor"/>
              </a:rPr>
              <a:t>The test score shows whether it learned real patterns that carry over to new customers.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78065"/>
            <a:ext cx="7863840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Unbounded"/>
              </a:rPr>
              <a:t>Model Performance on Test Data</a:t>
            </a:r>
          </a:p>
        </p:txBody>
      </p:sp>
      <p:sp>
        <p:nvSpPr>
          <p:cNvPr id="5" name="Metric row"/>
          <p:cNvSpPr/>
          <p:nvPr/>
        </p:nvSpPr>
        <p:spPr>
          <a:xfrm>
            <a:off x="475488" y="914400"/>
            <a:ext cx="795527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etric name"/>
          <p:cNvSpPr txBox="1"/>
          <p:nvPr/>
        </p:nvSpPr>
        <p:spPr>
          <a:xfrm>
            <a:off x="594360" y="1076938"/>
            <a:ext cx="2103120" cy="4247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 dirty="0">
                <a:solidFill>
                  <a:srgbClr val="1A1A1A"/>
                </a:solidFill>
                <a:latin typeface="Actor"/>
              </a:rPr>
              <a:t>R²</a:t>
            </a:r>
          </a:p>
        </p:txBody>
      </p:sp>
      <p:sp>
        <p:nvSpPr>
          <p:cNvPr id="7" name="Metric meaning"/>
          <p:cNvSpPr txBox="1"/>
          <p:nvPr/>
        </p:nvSpPr>
        <p:spPr>
          <a:xfrm>
            <a:off x="2697480" y="1015383"/>
            <a:ext cx="3657600" cy="5478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Explains about 81% of the variation in charges</a:t>
            </a:r>
          </a:p>
        </p:txBody>
      </p:sp>
      <p:sp>
        <p:nvSpPr>
          <p:cNvPr id="8" name="Metric value"/>
          <p:cNvSpPr txBox="1"/>
          <p:nvPr/>
        </p:nvSpPr>
        <p:spPr>
          <a:xfrm>
            <a:off x="6309360" y="914400"/>
            <a:ext cx="2011680" cy="7498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2200" b="1" i="0">
                <a:solidFill>
                  <a:srgbClr val="7E4FCF"/>
                </a:solidFill>
                <a:latin typeface="Unbounded"/>
              </a:rPr>
              <a:t>0.81</a:t>
            </a:r>
          </a:p>
        </p:txBody>
      </p:sp>
      <p:sp>
        <p:nvSpPr>
          <p:cNvPr id="9" name="Metric row"/>
          <p:cNvSpPr/>
          <p:nvPr/>
        </p:nvSpPr>
        <p:spPr>
          <a:xfrm>
            <a:off x="475488" y="1783080"/>
            <a:ext cx="795527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etric name"/>
          <p:cNvSpPr txBox="1"/>
          <p:nvPr/>
        </p:nvSpPr>
        <p:spPr>
          <a:xfrm>
            <a:off x="594360" y="1945618"/>
            <a:ext cx="2103120" cy="4247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 dirty="0">
                <a:solidFill>
                  <a:srgbClr val="1A1A1A"/>
                </a:solidFill>
                <a:latin typeface="Actor"/>
              </a:rPr>
              <a:t>MAE</a:t>
            </a:r>
          </a:p>
        </p:txBody>
      </p:sp>
      <p:sp>
        <p:nvSpPr>
          <p:cNvPr id="11" name="Metric meaning"/>
          <p:cNvSpPr txBox="1"/>
          <p:nvPr/>
        </p:nvSpPr>
        <p:spPr>
          <a:xfrm>
            <a:off x="2697480" y="2007173"/>
            <a:ext cx="365760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Typical prediction is off by about $4,177</a:t>
            </a:r>
          </a:p>
        </p:txBody>
      </p:sp>
      <p:sp>
        <p:nvSpPr>
          <p:cNvPr id="12" name="Metric value"/>
          <p:cNvSpPr txBox="1"/>
          <p:nvPr/>
        </p:nvSpPr>
        <p:spPr>
          <a:xfrm>
            <a:off x="6309360" y="1783080"/>
            <a:ext cx="2011680" cy="7498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2200" b="1" i="0">
                <a:solidFill>
                  <a:srgbClr val="7E4FCF"/>
                </a:solidFill>
                <a:latin typeface="Unbounded"/>
              </a:rPr>
              <a:t>$4,177</a:t>
            </a:r>
          </a:p>
        </p:txBody>
      </p:sp>
      <p:sp>
        <p:nvSpPr>
          <p:cNvPr id="13" name="Metric row"/>
          <p:cNvSpPr/>
          <p:nvPr/>
        </p:nvSpPr>
        <p:spPr>
          <a:xfrm>
            <a:off x="475488" y="2651760"/>
            <a:ext cx="795527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Metric name"/>
          <p:cNvSpPr txBox="1"/>
          <p:nvPr/>
        </p:nvSpPr>
        <p:spPr>
          <a:xfrm>
            <a:off x="594360" y="2814298"/>
            <a:ext cx="2103120" cy="4247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 dirty="0">
                <a:solidFill>
                  <a:srgbClr val="1A1A1A"/>
                </a:solidFill>
                <a:latin typeface="Actor"/>
              </a:rPr>
              <a:t>RMSE</a:t>
            </a:r>
          </a:p>
        </p:txBody>
      </p:sp>
      <p:sp>
        <p:nvSpPr>
          <p:cNvPr id="15" name="Metric meaning"/>
          <p:cNvSpPr txBox="1"/>
          <p:nvPr/>
        </p:nvSpPr>
        <p:spPr>
          <a:xfrm>
            <a:off x="2697480" y="2752743"/>
            <a:ext cx="3657600" cy="5478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Actor"/>
              </a:rPr>
              <a:t>Larger because big misses count more; signals outliers</a:t>
            </a:r>
          </a:p>
        </p:txBody>
      </p:sp>
      <p:sp>
        <p:nvSpPr>
          <p:cNvPr id="16" name="Metric value"/>
          <p:cNvSpPr txBox="1"/>
          <p:nvPr/>
        </p:nvSpPr>
        <p:spPr>
          <a:xfrm>
            <a:off x="6309360" y="2651760"/>
            <a:ext cx="2011680" cy="7498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2200" b="1" i="0">
                <a:solidFill>
                  <a:srgbClr val="7E4FCF"/>
                </a:solidFill>
                <a:latin typeface="Unbounded"/>
              </a:rPr>
              <a:t>$5,956</a:t>
            </a:r>
          </a:p>
        </p:txBody>
      </p:sp>
      <p:sp>
        <p:nvSpPr>
          <p:cNvPr id="17" name="Verdict card"/>
          <p:cNvSpPr/>
          <p:nvPr/>
        </p:nvSpPr>
        <p:spPr>
          <a:xfrm>
            <a:off x="475488" y="3611880"/>
            <a:ext cx="7955279" cy="1005840"/>
          </a:xfrm>
          <a:prstGeom prst="roundRect">
            <a:avLst>
              <a:gd name="adj" fmla="val 12000"/>
            </a:avLst>
          </a:prstGeom>
          <a:solidFill>
            <a:srgbClr val="7E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Verdict"/>
          <p:cNvSpPr txBox="1"/>
          <p:nvPr/>
        </p:nvSpPr>
        <p:spPr>
          <a:xfrm>
            <a:off x="640080" y="3840879"/>
            <a:ext cx="7635240" cy="5478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ctor"/>
              </a:rPr>
              <a:t>Verdict: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strong for a simple linear model on real healthcare data. </a:t>
            </a:r>
            <a:r>
              <a:rPr sz="1600" b="1" i="0" dirty="0">
                <a:solidFill>
                  <a:srgbClr val="FFFFFF"/>
                </a:solidFill>
                <a:latin typeface="Actor"/>
              </a:rPr>
              <a:t>What lowers the score: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extreme smoker cases, non-linear effects, limited features and a small sample.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78065"/>
            <a:ext cx="7863840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Unbounded"/>
              </a:rPr>
              <a:t>What the Model Learned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75488" y="768096"/>
            <a:ext cx="786384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C9C3E6"/>
                </a:solidFill>
                <a:latin typeface="Actor"/>
              </a:rPr>
              <a:t>Effect on predicted charge, holding other factors constant</a:t>
            </a:r>
          </a:p>
        </p:txBody>
      </p:sp>
      <p:sp>
        <p:nvSpPr>
          <p:cNvPr id="6" name="Chart panel"/>
          <p:cNvSpPr/>
          <p:nvPr/>
        </p:nvSpPr>
        <p:spPr>
          <a:xfrm>
            <a:off x="475488" y="1143000"/>
            <a:ext cx="4937760" cy="3429000"/>
          </a:xfrm>
          <a:prstGeom prst="roundRect">
            <a:avLst>
              <a:gd name="adj" fmla="val 12000"/>
            </a:avLst>
          </a:prstGeom>
          <a:solidFill>
            <a:srgbClr val="2A2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oefficients 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087918"/>
              </p:ext>
            </p:extLst>
          </p:nvPr>
        </p:nvGraphicFramePr>
        <p:xfrm>
          <a:off x="502920" y="1254822"/>
          <a:ext cx="48463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oefficient notes"/>
          <p:cNvSpPr txBox="1"/>
          <p:nvPr/>
        </p:nvSpPr>
        <p:spPr>
          <a:xfrm>
            <a:off x="5623560" y="1209102"/>
            <a:ext cx="2788920" cy="218931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Actor"/>
              </a:rPr>
              <a:t>Smoker: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adds about $23,078 to the predicted charge.</a:t>
            </a: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Actor"/>
              </a:rPr>
              <a:t>Age: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about $248 more per year.</a:t>
            </a: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Actor"/>
              </a:rPr>
              <a:t>BMI: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about $319 more per unit.</a:t>
            </a: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Actor"/>
              </a:rPr>
              <a:t>Children: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about $533 per child.</a:t>
            </a: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Actor"/>
              </a:rPr>
              <a:t>Sex and region: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small effects, so weak pricing factors.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78065"/>
            <a:ext cx="7863840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Unbounded"/>
              </a:rPr>
              <a:t>Checking the Model Visually</a:t>
            </a:r>
          </a:p>
        </p:txBody>
      </p:sp>
      <p:sp>
        <p:nvSpPr>
          <p:cNvPr id="5" name="Image frame"/>
          <p:cNvSpPr/>
          <p:nvPr/>
        </p:nvSpPr>
        <p:spPr>
          <a:xfrm>
            <a:off x="475488" y="960120"/>
            <a:ext cx="35204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Actual vs predicted" descr="c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76" y="1024127"/>
            <a:ext cx="3326662" cy="2478024"/>
          </a:xfrm>
          <a:prstGeom prst="rect">
            <a:avLst/>
          </a:prstGeom>
        </p:spPr>
      </p:pic>
      <p:sp>
        <p:nvSpPr>
          <p:cNvPr id="7" name="Image frame"/>
          <p:cNvSpPr/>
          <p:nvPr/>
        </p:nvSpPr>
        <p:spPr>
          <a:xfrm>
            <a:off x="4206240" y="960120"/>
            <a:ext cx="42062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Residuals plot" descr="c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146703"/>
            <a:ext cx="4078224" cy="2232873"/>
          </a:xfrm>
          <a:prstGeom prst="rect">
            <a:avLst/>
          </a:prstGeom>
        </p:spPr>
      </p:pic>
      <p:sp>
        <p:nvSpPr>
          <p:cNvPr id="9" name="Left note"/>
          <p:cNvSpPr txBox="1"/>
          <p:nvPr/>
        </p:nvSpPr>
        <p:spPr>
          <a:xfrm>
            <a:off x="475488" y="3657600"/>
            <a:ext cx="352044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ctor"/>
              </a:rPr>
              <a:t>Actual vs predicted: 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tight along the diagonal below about $17K; the costliest patients (&gt; $31K) are under-predicted.</a:t>
            </a:r>
          </a:p>
        </p:txBody>
      </p:sp>
      <p:sp>
        <p:nvSpPr>
          <p:cNvPr id="10" name="Right note"/>
          <p:cNvSpPr txBox="1"/>
          <p:nvPr/>
        </p:nvSpPr>
        <p:spPr>
          <a:xfrm>
            <a:off x="4206240" y="3657600"/>
            <a:ext cx="420624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ctor"/>
              </a:rPr>
              <a:t>Residuals: </a:t>
            </a:r>
            <a:r>
              <a:rPr sz="1600" b="0" i="0" dirty="0" err="1">
                <a:solidFill>
                  <a:srgbClr val="FFFFFF"/>
                </a:solidFill>
                <a:latin typeface="Actor"/>
              </a:rPr>
              <a:t>centred</a:t>
            </a:r>
            <a:r>
              <a:rPr sz="1600" b="0" i="0" dirty="0">
                <a:solidFill>
                  <a:srgbClr val="FFFFFF"/>
                </a:solidFill>
                <a:latin typeface="Actor"/>
              </a:rPr>
              <a:t> near zero but fan out at high charges, so the model is less accurate for expensive smokers.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75488" y="247288"/>
            <a:ext cx="7863840" cy="5478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Unbounded"/>
              </a:rPr>
              <a:t>Limitations</a:t>
            </a:r>
          </a:p>
        </p:txBody>
      </p:sp>
      <p:sp>
        <p:nvSpPr>
          <p:cNvPr id="5" name="Limitation card"/>
          <p:cNvSpPr/>
          <p:nvPr/>
        </p:nvSpPr>
        <p:spPr>
          <a:xfrm>
            <a:off x="475488" y="960120"/>
            <a:ext cx="38862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mitation title"/>
          <p:cNvSpPr txBox="1"/>
          <p:nvPr/>
        </p:nvSpPr>
        <p:spPr>
          <a:xfrm>
            <a:off x="612648" y="1069848"/>
            <a:ext cx="36118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ctor"/>
              </a:rPr>
              <a:t>Under-predicts the costliest</a:t>
            </a:r>
          </a:p>
        </p:txBody>
      </p:sp>
      <p:sp>
        <p:nvSpPr>
          <p:cNvPr id="7" name="Limitation text"/>
          <p:cNvSpPr txBox="1"/>
          <p:nvPr/>
        </p:nvSpPr>
        <p:spPr>
          <a:xfrm>
            <a:off x="612648" y="1508760"/>
            <a:ext cx="361188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0" dirty="0">
                <a:solidFill>
                  <a:srgbClr val="1A1A1A"/>
                </a:solidFill>
                <a:latin typeface="Actor"/>
              </a:rPr>
              <a:t>Patients above about $31K, mostly obese smokers, are underestimated.</a:t>
            </a:r>
          </a:p>
        </p:txBody>
      </p:sp>
      <p:sp>
        <p:nvSpPr>
          <p:cNvPr id="8" name="Limitation card"/>
          <p:cNvSpPr/>
          <p:nvPr/>
        </p:nvSpPr>
        <p:spPr>
          <a:xfrm>
            <a:off x="4544568" y="960120"/>
            <a:ext cx="38862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mitation title"/>
          <p:cNvSpPr txBox="1"/>
          <p:nvPr/>
        </p:nvSpPr>
        <p:spPr>
          <a:xfrm>
            <a:off x="4681728" y="1069848"/>
            <a:ext cx="36118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ctor"/>
              </a:rPr>
              <a:t>Linear by design</a:t>
            </a:r>
          </a:p>
        </p:txBody>
      </p:sp>
      <p:sp>
        <p:nvSpPr>
          <p:cNvPr id="10" name="Limitation text"/>
          <p:cNvSpPr txBox="1"/>
          <p:nvPr/>
        </p:nvSpPr>
        <p:spPr>
          <a:xfrm>
            <a:off x="4681728" y="1508760"/>
            <a:ext cx="361188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0" dirty="0">
                <a:solidFill>
                  <a:srgbClr val="1A1A1A"/>
                </a:solidFill>
                <a:latin typeface="Actor"/>
              </a:rPr>
              <a:t>It cannot capture the smoker × BMI interaction or cost thresholds.</a:t>
            </a:r>
          </a:p>
        </p:txBody>
      </p:sp>
      <p:sp>
        <p:nvSpPr>
          <p:cNvPr id="11" name="Limitation card"/>
          <p:cNvSpPr/>
          <p:nvPr/>
        </p:nvSpPr>
        <p:spPr>
          <a:xfrm>
            <a:off x="475488" y="2743200"/>
            <a:ext cx="38862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mitation title"/>
          <p:cNvSpPr txBox="1"/>
          <p:nvPr/>
        </p:nvSpPr>
        <p:spPr>
          <a:xfrm>
            <a:off x="612648" y="2852928"/>
            <a:ext cx="36118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ctor"/>
              </a:rPr>
              <a:t>Limited features</a:t>
            </a:r>
          </a:p>
        </p:txBody>
      </p:sp>
      <p:sp>
        <p:nvSpPr>
          <p:cNvPr id="13" name="Limitation text"/>
          <p:cNvSpPr txBox="1"/>
          <p:nvPr/>
        </p:nvSpPr>
        <p:spPr>
          <a:xfrm>
            <a:off x="612648" y="3291840"/>
            <a:ext cx="361188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0" dirty="0">
                <a:solidFill>
                  <a:srgbClr val="1A1A1A"/>
                </a:solidFill>
                <a:latin typeface="Actor"/>
              </a:rPr>
              <a:t>No medical history or pre-existing conditions in the data.</a:t>
            </a:r>
          </a:p>
        </p:txBody>
      </p:sp>
      <p:sp>
        <p:nvSpPr>
          <p:cNvPr id="14" name="Limitation card"/>
          <p:cNvSpPr/>
          <p:nvPr/>
        </p:nvSpPr>
        <p:spPr>
          <a:xfrm>
            <a:off x="4544568" y="2743200"/>
            <a:ext cx="38862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imitation title"/>
          <p:cNvSpPr txBox="1"/>
          <p:nvPr/>
        </p:nvSpPr>
        <p:spPr>
          <a:xfrm>
            <a:off x="4681728" y="2852928"/>
            <a:ext cx="36118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ctor"/>
              </a:rPr>
              <a:t>Small sample</a:t>
            </a:r>
          </a:p>
        </p:txBody>
      </p:sp>
      <p:sp>
        <p:nvSpPr>
          <p:cNvPr id="16" name="Limitation text"/>
          <p:cNvSpPr txBox="1"/>
          <p:nvPr/>
        </p:nvSpPr>
        <p:spPr>
          <a:xfrm>
            <a:off x="4681728" y="3291840"/>
            <a:ext cx="361188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0" dirty="0">
                <a:solidFill>
                  <a:srgbClr val="1A1A1A"/>
                </a:solidFill>
                <a:latin typeface="Actor"/>
              </a:rPr>
              <a:t>Only 1,337 patients, so extreme cases are thinly represented.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619;p49"/>
          <p:cNvPicPr/>
          <p:nvPr/>
        </p:nvPicPr>
        <p:blipFill>
          <a:blip r:embed="rId3"/>
          <a:stretch/>
        </p:blipFill>
        <p:spPr>
          <a:xfrm>
            <a:off x="4943520" y="971640"/>
            <a:ext cx="3247560" cy="319068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</p:pic>
      <p:grpSp>
        <p:nvGrpSpPr>
          <p:cNvPr id="119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120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121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122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123" name="Rectangle 122"/>
          <p:cNvSpPr/>
          <p:nvPr/>
        </p:nvSpPr>
        <p:spPr>
          <a:xfrm>
            <a:off x="714240" y="502920"/>
            <a:ext cx="416196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Unbounded"/>
              </a:rPr>
              <a:t>Recommendations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714240" y="1280160"/>
            <a:ext cx="4161960" cy="329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Price on smoking status first. </a:t>
            </a:r>
            <a:r>
              <a:rPr sz="1600" b="0" dirty="0">
                <a:solidFill>
                  <a:srgbClr val="FFFFFF"/>
                </a:solidFill>
                <a:latin typeface="Actor"/>
              </a:rPr>
              <a:t>It is the biggest cost driver by far.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285750" indent="-285750" algn="l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FFFFFF"/>
                </a:solidFill>
                <a:latin typeface="Actor"/>
              </a:rPr>
              <a:t>Adjust for age and BMI. </a:t>
            </a:r>
            <a:r>
              <a:rPr sz="1600" b="0" dirty="0">
                <a:solidFill>
                  <a:srgbClr val="FFFFFF"/>
                </a:solidFill>
                <a:latin typeface="Actor"/>
              </a:rPr>
              <a:t>Use them as secondary factors.</a:t>
            </a:r>
          </a:p>
          <a:p>
            <a:pPr marL="285750" indent="-285750" algn="l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FFFFFF"/>
                </a:solidFill>
                <a:latin typeface="Actor"/>
              </a:rPr>
              <a:t>Target wellness programs </a:t>
            </a:r>
            <a:r>
              <a:rPr sz="1600" b="0" dirty="0">
                <a:solidFill>
                  <a:srgbClr val="FFFFFF"/>
                </a:solidFill>
                <a:latin typeface="Actor"/>
              </a:rPr>
              <a:t>at obese smokers, the costliest subgroup.</a:t>
            </a:r>
          </a:p>
          <a:p>
            <a:pPr marL="285750" indent="-285750" algn="l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FFFFFF"/>
                </a:solidFill>
                <a:latin typeface="Actor"/>
              </a:rPr>
              <a:t>Keep region and sex out of primary pricing. </a:t>
            </a:r>
            <a:r>
              <a:rPr sz="1600" b="0" dirty="0">
                <a:solidFill>
                  <a:srgbClr val="FFFFFF"/>
                </a:solidFill>
                <a:latin typeface="Actor"/>
              </a:rPr>
              <a:t>Their effects are small, so using them risks unfair premiums.</a:t>
            </a:r>
          </a:p>
          <a:p>
            <a:pPr marL="285750" indent="-285750" algn="l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FFFFFF"/>
                </a:solidFill>
                <a:latin typeface="Actor"/>
              </a:rPr>
              <a:t>Keep improving the model: </a:t>
            </a:r>
            <a:r>
              <a:rPr sz="1600" b="0" dirty="0">
                <a:solidFill>
                  <a:srgbClr val="FFFFFF"/>
                </a:solidFill>
                <a:latin typeface="Actor"/>
              </a:rPr>
              <a:t>add a smoker × BMI term and clinical history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12504" y="1225088"/>
            <a:ext cx="6695640" cy="120032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6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THANK YOU</a:t>
            </a:r>
            <a:endParaRPr lang="fr-FR" sz="6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2066161" y="2416249"/>
            <a:ext cx="4885482" cy="80021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0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UrbanNest Health Analytics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Group 6  |  Health Sector Capstone Project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30" name="Google Shape;1024;p69"/>
          <p:cNvGrpSpPr/>
          <p:nvPr/>
        </p:nvGrpSpPr>
        <p:grpSpPr>
          <a:xfrm>
            <a:off x="7566840" y="3891240"/>
            <a:ext cx="1159560" cy="793080"/>
            <a:chOff x="7566840" y="3891240"/>
            <a:chExt cx="1159560" cy="793080"/>
          </a:xfrm>
        </p:grpSpPr>
        <p:cxnSp>
          <p:nvCxnSpPr>
            <p:cNvPr id="131" name="Google Shape;1025;p69"/>
            <p:cNvCxnSpPr/>
            <p:nvPr/>
          </p:nvCxnSpPr>
          <p:spPr>
            <a:xfrm>
              <a:off x="7566840" y="400752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132" name="Google Shape;1026;p69"/>
            <p:cNvCxnSpPr/>
            <p:nvPr/>
          </p:nvCxnSpPr>
          <p:spPr>
            <a:xfrm>
              <a:off x="7576560" y="4019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133" name="Google Shape;1027;p69"/>
            <p:cNvCxnSpPr/>
            <p:nvPr/>
          </p:nvCxnSpPr>
          <p:spPr>
            <a:xfrm flipV="1">
              <a:off x="7582320" y="389124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59E3080-3693-2CA6-AFEC-90467F3D9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2066161" y="3482613"/>
            <a:ext cx="4885482" cy="73352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E9E0DD1-C983-B2C3-9FF9-58F24E4F3E96}"/>
              </a:ext>
            </a:extLst>
          </p:cNvPr>
          <p:cNvSpPr/>
          <p:nvPr/>
        </p:nvSpPr>
        <p:spPr>
          <a:xfrm>
            <a:off x="165726" y="471893"/>
            <a:ext cx="2111746" cy="7752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TECH CRUSH</a:t>
            </a:r>
            <a:endParaRPr lang="en-US" sz="2000" b="1" i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1493</Words>
  <Application>Microsoft Office PowerPoint</Application>
  <PresentationFormat>On-screen Show (16:9)</PresentationFormat>
  <Paragraphs>168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Actor</vt:lpstr>
      <vt:lpstr>Arial</vt:lpstr>
      <vt:lpstr>OpenSymbol</vt:lpstr>
      <vt:lpstr>Symbol</vt:lpstr>
      <vt:lpstr>Unbounded</vt:lpstr>
      <vt:lpstr>Unbounded SemiBold</vt:lpstr>
      <vt:lpstr>Wingdings</vt:lpstr>
      <vt:lpstr>My Presentation Template</vt:lpstr>
      <vt:lpstr>My Presentation Template</vt:lpstr>
      <vt:lpstr>My Presentation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Ijemba Joshua</cp:lastModifiedBy>
  <cp:revision>4</cp:revision>
  <dcterms:modified xsi:type="dcterms:W3CDTF">2026-10-08T13:50:02Z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2026-10-08T10:07:01Z</dcterms:created>
  <dc:creator>Slidesgo AI</dc:creator>
  <dc:description/>
  <dc:language>en-US</dc:language>
  <cp:lastModifiedBy>Unknown Creator</cp:lastModifiedBy>
  <dcterms:modified xsi:type="dcterms:W3CDTF">2026-10-08T10:07:01Z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10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a2ee897e-fd2e-4dbc-9b98-84ed92d34913</vt:lpwstr>
  </property>
</Properties>
</file>